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6858000" cx="12198350"/>
  <p:notesSz cx="6858000" cy="9144000"/>
  <p:embeddedFontLst>
    <p:embeddedFont>
      <p:font typeface="Inter"/>
      <p:bold r:id="rId27"/>
      <p:boldItalic r:id="rId28"/>
    </p:embeddedFont>
    <p:embeddedFont>
      <p:font typeface="Century Gothic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95">
          <p15:clr>
            <a:srgbClr val="A4A3A4"/>
          </p15:clr>
        </p15:guide>
        <p15:guide id="2" pos="35">
          <p15:clr>
            <a:srgbClr val="A4A3A4"/>
          </p15:clr>
        </p15:guide>
        <p15:guide id="3" orient="horz" pos="4201">
          <p15:clr>
            <a:srgbClr val="A4A3A4"/>
          </p15:clr>
        </p15:guide>
        <p15:guide id="4" pos="962">
          <p15:clr>
            <a:srgbClr val="A4A3A4"/>
          </p15:clr>
        </p15:guide>
        <p15:guide id="5" pos="2265">
          <p15:clr>
            <a:srgbClr val="A4A3A4"/>
          </p15:clr>
        </p15:guide>
        <p15:guide id="6" pos="7536">
          <p15:clr>
            <a:srgbClr val="A4A3A4"/>
          </p15:clr>
        </p15:guide>
      </p15:sldGuideLst>
    </p:ext>
    <p:ext uri="GoogleSlidesCustomDataVersion2">
      <go:slidesCustomData xmlns:go="http://customooxmlschemas.google.com/" r:id="rId33" roundtripDataSignature="AMtx7mgKUU0Ys0vYnrQDq9pzb2DLYEX/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F354575-1730-4EEE-90FD-D2D083BFFBBF}">
  <a:tblStyle styleId="{7F354575-1730-4EEE-90FD-D2D083BFFBB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0F89FB6D-309A-4A68-9CC9-02C8509EFB6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95" orient="horz"/>
        <p:guide pos="35"/>
        <p:guide pos="4201" orient="horz"/>
        <p:guide pos="962"/>
        <p:guide pos="2265"/>
        <p:guide pos="753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Inter-boldItalic.fntdata"/><Relationship Id="rId27" Type="http://schemas.openxmlformats.org/officeDocument/2006/relationships/font" Target="fonts/Inter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CenturyGothic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CenturyGothic-italic.fntdata"/><Relationship Id="rId30" Type="http://schemas.openxmlformats.org/officeDocument/2006/relationships/font" Target="fonts/CenturyGothic-bold.fntdata"/><Relationship Id="rId11" Type="http://schemas.openxmlformats.org/officeDocument/2006/relationships/slide" Target="slides/slide5.xml"/><Relationship Id="rId33" Type="http://customschemas.google.com/relationships/presentationmetadata" Target="metadata"/><Relationship Id="rId10" Type="http://schemas.openxmlformats.org/officeDocument/2006/relationships/slide" Target="slides/slide4.xml"/><Relationship Id="rId32" Type="http://schemas.openxmlformats.org/officeDocument/2006/relationships/font" Target="fonts/CenturyGothic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79413" y="685800"/>
            <a:ext cx="60991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E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IE"/>
              <a:t>In here talk about why you cont with channel dependency definitions. Becauseee, FMs process channels inteply</a:t>
            </a:r>
            <a:endParaRPr/>
          </a:p>
        </p:txBody>
      </p:sp>
      <p:sp>
        <p:nvSpPr>
          <p:cNvPr id="35" name="Google Shape;35;p1:notes"/>
          <p:cNvSpPr/>
          <p:nvPr>
            <p:ph idx="2" type="sldImg"/>
          </p:nvPr>
        </p:nvSpPr>
        <p:spPr>
          <a:xfrm>
            <a:off x="379413" y="685800"/>
            <a:ext cx="60991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764dc6b57b_0_140:notes"/>
          <p:cNvSpPr/>
          <p:nvPr>
            <p:ph idx="2" type="sldImg"/>
          </p:nvPr>
        </p:nvSpPr>
        <p:spPr>
          <a:xfrm>
            <a:off x="379413" y="685800"/>
            <a:ext cx="609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3764dc6b57b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g3764dc6b57b_0_14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764dc6b57b_0_28:notes"/>
          <p:cNvSpPr/>
          <p:nvPr>
            <p:ph idx="2" type="sldImg"/>
          </p:nvPr>
        </p:nvSpPr>
        <p:spPr>
          <a:xfrm>
            <a:off x="379413" y="685800"/>
            <a:ext cx="609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764dc6b57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g3764dc6b57b_0_2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77974892b3_0_0:notes"/>
          <p:cNvSpPr/>
          <p:nvPr>
            <p:ph idx="2" type="sldImg"/>
          </p:nvPr>
        </p:nvSpPr>
        <p:spPr>
          <a:xfrm>
            <a:off x="379413" y="685800"/>
            <a:ext cx="609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77974892b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377974892b3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764dc6b57b_0_156:notes"/>
          <p:cNvSpPr/>
          <p:nvPr>
            <p:ph idx="2" type="sldImg"/>
          </p:nvPr>
        </p:nvSpPr>
        <p:spPr>
          <a:xfrm>
            <a:off x="379413" y="685800"/>
            <a:ext cx="609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764dc6b57b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g3764dc6b57b_0_15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379413" y="685800"/>
            <a:ext cx="60991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64dc6b57b_0_11:notes"/>
          <p:cNvSpPr/>
          <p:nvPr>
            <p:ph idx="2" type="sldImg"/>
          </p:nvPr>
        </p:nvSpPr>
        <p:spPr>
          <a:xfrm>
            <a:off x="379413" y="685800"/>
            <a:ext cx="609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764dc6b57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764dc6b57b_0_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7974892b3_0_8:notes"/>
          <p:cNvSpPr/>
          <p:nvPr>
            <p:ph idx="2" type="sldImg"/>
          </p:nvPr>
        </p:nvSpPr>
        <p:spPr>
          <a:xfrm>
            <a:off x="379413" y="685800"/>
            <a:ext cx="609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77974892b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77974892b3_0_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77974892b3_0_19:notes"/>
          <p:cNvSpPr/>
          <p:nvPr>
            <p:ph idx="2" type="sldImg"/>
          </p:nvPr>
        </p:nvSpPr>
        <p:spPr>
          <a:xfrm>
            <a:off x="379413" y="685800"/>
            <a:ext cx="609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77974892b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77974892b3_0_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7974892b3_0_30:notes"/>
          <p:cNvSpPr/>
          <p:nvPr>
            <p:ph idx="2" type="sldImg"/>
          </p:nvPr>
        </p:nvSpPr>
        <p:spPr>
          <a:xfrm>
            <a:off x="379413" y="685800"/>
            <a:ext cx="609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77974892b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77974892b3_0_3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764dc6b57b_0_38:notes"/>
          <p:cNvSpPr/>
          <p:nvPr>
            <p:ph idx="2" type="sldImg"/>
          </p:nvPr>
        </p:nvSpPr>
        <p:spPr>
          <a:xfrm>
            <a:off x="379413" y="685800"/>
            <a:ext cx="609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764dc6b57b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764dc6b57b_0_3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77974892b3_0_40:notes"/>
          <p:cNvSpPr/>
          <p:nvPr>
            <p:ph idx="2" type="sldImg"/>
          </p:nvPr>
        </p:nvSpPr>
        <p:spPr>
          <a:xfrm>
            <a:off x="379413" y="685800"/>
            <a:ext cx="609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77974892b3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77974892b3_0_4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764dc6b57b_0_164:notes"/>
          <p:cNvSpPr/>
          <p:nvPr>
            <p:ph idx="2" type="sldImg"/>
          </p:nvPr>
        </p:nvSpPr>
        <p:spPr>
          <a:xfrm>
            <a:off x="379413" y="685800"/>
            <a:ext cx="609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764dc6b57b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764dc6b57b_0_16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764dc6b57b_0_170:notes"/>
          <p:cNvSpPr/>
          <p:nvPr>
            <p:ph idx="2" type="sldImg"/>
          </p:nvPr>
        </p:nvSpPr>
        <p:spPr>
          <a:xfrm>
            <a:off x="379413" y="685800"/>
            <a:ext cx="609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764dc6b57b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764dc6b57b_0_17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764dc6b57b_0_176:notes"/>
          <p:cNvSpPr/>
          <p:nvPr>
            <p:ph idx="2" type="sldImg"/>
          </p:nvPr>
        </p:nvSpPr>
        <p:spPr>
          <a:xfrm>
            <a:off x="379413" y="685800"/>
            <a:ext cx="609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764dc6b57b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764dc6b57b_0_17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764dc6b57b_0_89:notes"/>
          <p:cNvSpPr/>
          <p:nvPr>
            <p:ph idx="2" type="sldImg"/>
          </p:nvPr>
        </p:nvSpPr>
        <p:spPr>
          <a:xfrm>
            <a:off x="379413" y="685800"/>
            <a:ext cx="609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764dc6b57b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764dc6b57b_0_8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9ad339b33_0_33:notes"/>
          <p:cNvSpPr/>
          <p:nvPr>
            <p:ph idx="2" type="sldImg"/>
          </p:nvPr>
        </p:nvSpPr>
        <p:spPr>
          <a:xfrm>
            <a:off x="379413" y="685800"/>
            <a:ext cx="609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79ad339b33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79ad339b33_0_3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77974892b3_0_47:notes"/>
          <p:cNvSpPr/>
          <p:nvPr>
            <p:ph idx="2" type="sldImg"/>
          </p:nvPr>
        </p:nvSpPr>
        <p:spPr>
          <a:xfrm>
            <a:off x="379413" y="685800"/>
            <a:ext cx="609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77974892b3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77974892b3_0_4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764dc6b57b_0_120:notes"/>
          <p:cNvSpPr/>
          <p:nvPr>
            <p:ph idx="2" type="sldImg"/>
          </p:nvPr>
        </p:nvSpPr>
        <p:spPr>
          <a:xfrm>
            <a:off x="379413" y="685800"/>
            <a:ext cx="609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764dc6b57b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764dc6b57b_0_1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77974892b3_0_90:notes"/>
          <p:cNvSpPr/>
          <p:nvPr>
            <p:ph idx="2" type="sldImg"/>
          </p:nvPr>
        </p:nvSpPr>
        <p:spPr>
          <a:xfrm>
            <a:off x="379413" y="685800"/>
            <a:ext cx="609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77974892b3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377974892b3_0_9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9"/>
          <p:cNvSpPr txBox="1"/>
          <p:nvPr>
            <p:ph type="ctrTitle"/>
          </p:nvPr>
        </p:nvSpPr>
        <p:spPr>
          <a:xfrm>
            <a:off x="6543040" y="1377359"/>
            <a:ext cx="5221232" cy="27717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68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75E"/>
              </a:buClr>
              <a:buSzPts val="4800"/>
              <a:buFont typeface="Century Gothic"/>
              <a:buNone/>
              <a:defRPr b="1" sz="4800">
                <a:solidFill>
                  <a:srgbClr val="16375E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" type="subTitle"/>
          </p:nvPr>
        </p:nvSpPr>
        <p:spPr>
          <a:xfrm>
            <a:off x="6543040" y="4149095"/>
            <a:ext cx="5221233" cy="1325689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0" spcFirstLastPara="1" rIns="0" wrap="square" tIns="46800">
            <a:norm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descr="A close up of a logo&#10;&#10;Description automatically generated" id="22" name="Google Shape;22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" y="3535877"/>
            <a:ext cx="3166525" cy="2384677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9"/>
          <p:cNvSpPr txBox="1"/>
          <p:nvPr>
            <p:ph idx="12" type="sldNum"/>
          </p:nvPr>
        </p:nvSpPr>
        <p:spPr>
          <a:xfrm>
            <a:off x="11414987" y="6333134"/>
            <a:ext cx="7320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47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0"/>
          <p:cNvSpPr txBox="1"/>
          <p:nvPr>
            <p:ph type="title"/>
          </p:nvPr>
        </p:nvSpPr>
        <p:spPr>
          <a:xfrm>
            <a:off x="963589" y="3733137"/>
            <a:ext cx="10368598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288000" spcFirstLastPara="1" rIns="2880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entury Gothic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" type="body"/>
          </p:nvPr>
        </p:nvSpPr>
        <p:spPr>
          <a:xfrm>
            <a:off x="963585" y="2220918"/>
            <a:ext cx="10368598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7" name="Google Shape;27;p20"/>
          <p:cNvSpPr txBox="1"/>
          <p:nvPr>
            <p:ph idx="12" type="sldNum"/>
          </p:nvPr>
        </p:nvSpPr>
        <p:spPr>
          <a:xfrm>
            <a:off x="11414987" y="6333134"/>
            <a:ext cx="7320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888888"/>
                </a:solidFill>
              </a:defRPr>
            </a:lvl1pPr>
            <a:lvl2pPr lvl="1">
              <a:buNone/>
              <a:defRPr>
                <a:solidFill>
                  <a:srgbClr val="888888"/>
                </a:solidFill>
              </a:defRPr>
            </a:lvl2pPr>
            <a:lvl3pPr lvl="2">
              <a:buNone/>
              <a:defRPr>
                <a:solidFill>
                  <a:srgbClr val="888888"/>
                </a:solidFill>
              </a:defRPr>
            </a:lvl3pPr>
            <a:lvl4pPr lvl="3">
              <a:buNone/>
              <a:defRPr>
                <a:solidFill>
                  <a:srgbClr val="888888"/>
                </a:solidFill>
              </a:defRPr>
            </a:lvl4pPr>
            <a:lvl5pPr lvl="4">
              <a:buNone/>
              <a:defRPr>
                <a:solidFill>
                  <a:srgbClr val="888888"/>
                </a:solidFill>
              </a:defRPr>
            </a:lvl5pPr>
            <a:lvl6pPr lvl="5">
              <a:buNone/>
              <a:defRPr>
                <a:solidFill>
                  <a:srgbClr val="888888"/>
                </a:solidFill>
              </a:defRPr>
            </a:lvl6pPr>
            <a:lvl7pPr lvl="6">
              <a:buNone/>
              <a:defRPr>
                <a:solidFill>
                  <a:srgbClr val="888888"/>
                </a:solidFill>
              </a:defRPr>
            </a:lvl7pPr>
            <a:lvl8pPr lvl="7">
              <a:buNone/>
              <a:defRPr>
                <a:solidFill>
                  <a:srgbClr val="888888"/>
                </a:solidFill>
              </a:defRPr>
            </a:lvl8pPr>
            <a:lvl9pPr lvl="8"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1"/>
          <p:cNvSpPr txBox="1"/>
          <p:nvPr>
            <p:ph idx="1" type="body"/>
          </p:nvPr>
        </p:nvSpPr>
        <p:spPr>
          <a:xfrm>
            <a:off x="283782" y="304803"/>
            <a:ext cx="11624435" cy="62928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idx="12" type="sldNum"/>
          </p:nvPr>
        </p:nvSpPr>
        <p:spPr>
          <a:xfrm>
            <a:off x="11414987" y="6333134"/>
            <a:ext cx="7320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2"/>
          <p:cNvSpPr txBox="1"/>
          <p:nvPr>
            <p:ph idx="12" type="sldNum"/>
          </p:nvPr>
        </p:nvSpPr>
        <p:spPr>
          <a:xfrm>
            <a:off x="11414987" y="6333134"/>
            <a:ext cx="7320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8.png"/><Relationship Id="rId1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2.xml"/><Relationship Id="rId1" Type="http://schemas.openxmlformats.org/officeDocument/2006/relationships/image" Target="../media/image2.png"/><Relationship Id="rId2" Type="http://schemas.openxmlformats.org/officeDocument/2006/relationships/hyperlink" Target="https://www.linkedin.com/company/ml-labs/" TargetMode="External"/><Relationship Id="rId3" Type="http://schemas.openxmlformats.org/officeDocument/2006/relationships/image" Target="../media/image1.png"/><Relationship Id="rId4" Type="http://schemas.openxmlformats.org/officeDocument/2006/relationships/hyperlink" Target="http://www.twitter.com/@ml_labs_irl" TargetMode="External"/><Relationship Id="rId9" Type="http://schemas.openxmlformats.org/officeDocument/2006/relationships/image" Target="../media/image11.jpg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6" Type="http://schemas.openxmlformats.org/officeDocument/2006/relationships/hyperlink" Target="https://www.ml-labs.ie/" TargetMode="External"/><Relationship Id="rId7" Type="http://schemas.openxmlformats.org/officeDocument/2006/relationships/image" Target="../media/image6.png"/><Relationship Id="rId8" Type="http://schemas.openxmlformats.org/officeDocument/2006/relationships/hyperlink" Target="https://www.youtube.com/channel/UCFzWK-Xrw88F4nFIFlxtJYA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title"/>
          </p:nvPr>
        </p:nvSpPr>
        <p:spPr>
          <a:xfrm>
            <a:off x="0" y="0"/>
            <a:ext cx="1097851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88000" spcFirstLastPara="1" rIns="288000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entury Gothic"/>
              <a:buNone/>
              <a:defRPr b="1" i="0" sz="44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8"/>
          <p:cNvSpPr txBox="1"/>
          <p:nvPr>
            <p:ph idx="1" type="body"/>
          </p:nvPr>
        </p:nvSpPr>
        <p:spPr>
          <a:xfrm>
            <a:off x="609919" y="1228457"/>
            <a:ext cx="10978515" cy="54968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A screenshot of a cell phone&#10;&#10;Description automatically generated" id="12" name="Google Shape;12;p1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726898" y="10066"/>
            <a:ext cx="2486691" cy="9409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&#10;&#10;Description automatically generated" id="13" name="Google Shape;13;p1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1205" y="6380847"/>
            <a:ext cx="291100" cy="2909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&#10;&#10;Description automatically generated" id="14" name="Google Shape;14;p18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07255" y="6380847"/>
            <a:ext cx="291100" cy="2909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&#10;&#10;Description automatically generated" id="15" name="Google Shape;15;p18">
            <a:hlinkClick r:id="rId6"/>
          </p:cNvPr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931930" y="6388205"/>
            <a:ext cx="320210" cy="3200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, icon&#10;&#10;Description automatically generated" id="16" name="Google Shape;16;p18">
            <a:hlinkClick r:id="rId8"/>
          </p:cNvPr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51045" y="6373456"/>
            <a:ext cx="324169" cy="32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imeline&#10;&#10;Description automatically generated" id="17" name="Google Shape;17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" y="5868505"/>
            <a:ext cx="4987551" cy="98949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8"/>
          <p:cNvSpPr txBox="1"/>
          <p:nvPr>
            <p:ph idx="12" type="sldNum"/>
          </p:nvPr>
        </p:nvSpPr>
        <p:spPr>
          <a:xfrm>
            <a:off x="11414987" y="6333134"/>
            <a:ext cx="7320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1"/>
    <p:sldLayoutId id="2147483650" r:id="rId12"/>
    <p:sldLayoutId id="2147483651" r:id="rId13"/>
    <p:sldLayoutId id="2147483652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pinar.sunguisiacik@ucdconnect.ie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gif"/><Relationship Id="rId4" Type="http://schemas.openxmlformats.org/officeDocument/2006/relationships/image" Target="../media/image5.gif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github.com/mlgig/FM4MTSC" TargetMode="Externa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"/>
          <p:cNvSpPr txBox="1"/>
          <p:nvPr>
            <p:ph type="ctrTitle"/>
          </p:nvPr>
        </p:nvSpPr>
        <p:spPr>
          <a:xfrm>
            <a:off x="55575" y="944575"/>
            <a:ext cx="11907900" cy="1795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680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E" sz="3350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An Empirical Evaluation of Foundation Models</a:t>
            </a:r>
            <a:endParaRPr sz="3350">
              <a:solidFill>
                <a:srgbClr val="283A5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E" sz="3350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for Multivariate Time Series Classification</a:t>
            </a:r>
            <a:endParaRPr sz="3350">
              <a:solidFill>
                <a:srgbClr val="283A5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4450"/>
              <a:buFont typeface="Inter"/>
              <a:buNone/>
            </a:pPr>
            <a:r>
              <a:t/>
            </a:r>
            <a:endParaRPr sz="3350">
              <a:solidFill>
                <a:srgbClr val="283A5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" name="Google Shape;38;p1"/>
          <p:cNvSpPr txBox="1"/>
          <p:nvPr>
            <p:ph idx="1" type="subTitle"/>
          </p:nvPr>
        </p:nvSpPr>
        <p:spPr>
          <a:xfrm>
            <a:off x="5036976" y="2952300"/>
            <a:ext cx="5667000" cy="21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0" spcFirstLastPara="1" rIns="0" wrap="square" tIns="46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IE" sz="2050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Pinar Sungu Isiacik, </a:t>
            </a:r>
            <a:r>
              <a:rPr lang="en-IE" sz="2050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Thach Le Nguyen, Timilehin Aderinola, Georgiana Ifrim</a:t>
            </a:r>
            <a:endParaRPr sz="1850">
              <a:solidFill>
                <a:srgbClr val="283A5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IE" sz="18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3"/>
              </a:rPr>
              <a:t>pinar.sunguisiacik@ucdconnect.ie</a:t>
            </a:r>
            <a:endParaRPr b="1" sz="1800">
              <a:solidFill>
                <a:srgbClr val="283A5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1750">
              <a:solidFill>
                <a:srgbClr val="283A5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1750">
              <a:solidFill>
                <a:srgbClr val="283A5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IE" sz="1950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School of Computer Science</a:t>
            </a:r>
            <a:endParaRPr sz="1950">
              <a:solidFill>
                <a:srgbClr val="283A5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IE" sz="1950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University College Dublin, Ireland</a:t>
            </a:r>
            <a:endParaRPr b="1" sz="1750">
              <a:solidFill>
                <a:srgbClr val="283A5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" name="Google Shape;39;p1"/>
          <p:cNvSpPr txBox="1"/>
          <p:nvPr/>
        </p:nvSpPr>
        <p:spPr>
          <a:xfrm>
            <a:off x="5263125" y="5421225"/>
            <a:ext cx="65826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3200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E" sz="1750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      </a:t>
            </a:r>
            <a:endParaRPr sz="1750">
              <a:solidFill>
                <a:srgbClr val="283A5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" name="Google Shape;40;p1"/>
          <p:cNvSpPr txBox="1"/>
          <p:nvPr>
            <p:ph idx="12" type="sldNum"/>
          </p:nvPr>
        </p:nvSpPr>
        <p:spPr>
          <a:xfrm>
            <a:off x="11414987" y="6333134"/>
            <a:ext cx="7320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g3764dc6b57b_0_1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1975" y="2773025"/>
            <a:ext cx="2972550" cy="297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g3764dc6b57b_0_1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1463" y="351200"/>
            <a:ext cx="3529675" cy="198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g3764dc6b57b_0_140"/>
          <p:cNvPicPr preferRelativeResize="0"/>
          <p:nvPr/>
        </p:nvPicPr>
        <p:blipFill rotWithShape="1">
          <a:blip r:embed="rId5">
            <a:alphaModFix/>
          </a:blip>
          <a:srcRect b="4112" l="8507" r="50570" t="10918"/>
          <a:stretch/>
        </p:blipFill>
        <p:spPr>
          <a:xfrm>
            <a:off x="5483525" y="512825"/>
            <a:ext cx="2520003" cy="5232742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g3764dc6b57b_0_140"/>
          <p:cNvSpPr txBox="1"/>
          <p:nvPr/>
        </p:nvSpPr>
        <p:spPr>
          <a:xfrm>
            <a:off x="5356623" y="113575"/>
            <a:ext cx="2773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IE" sz="16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Counter M</a:t>
            </a:r>
            <a:r>
              <a:rPr b="1" lang="en-IE" sz="1600">
                <a:latin typeface="Century Gothic"/>
                <a:ea typeface="Century Gothic"/>
                <a:cs typeface="Century Gothic"/>
                <a:sym typeface="Century Gothic"/>
              </a:rPr>
              <a:t>ovement </a:t>
            </a:r>
            <a:r>
              <a:rPr b="1" i="0" lang="en-IE" sz="16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Jump</a:t>
            </a:r>
            <a:endParaRPr b="1" i="0" sz="16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0" name="Google Shape;50;g3764dc6b57b_0_140"/>
          <p:cNvSpPr txBox="1"/>
          <p:nvPr/>
        </p:nvSpPr>
        <p:spPr>
          <a:xfrm>
            <a:off x="8524150" y="1626975"/>
            <a:ext cx="3651300" cy="3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1750"/>
              <a:buFont typeface="Arial"/>
              <a:buNone/>
            </a:pPr>
            <a:r>
              <a:rPr b="1" lang="en-IE" sz="1750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This paper: </a:t>
            </a:r>
            <a:endParaRPr b="1" sz="1750">
              <a:solidFill>
                <a:srgbClr val="283A5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1750"/>
              <a:buFont typeface="Arial"/>
              <a:buNone/>
            </a:pPr>
            <a:r>
              <a:rPr lang="en-IE" sz="1750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An empirical evaluation of how foundation models handle channel dependencies in multivariate time series classification tasks</a:t>
            </a:r>
            <a:endParaRPr sz="1750">
              <a:solidFill>
                <a:srgbClr val="283A5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1750"/>
              <a:buFont typeface="Arial"/>
              <a:buNone/>
            </a:pPr>
            <a:r>
              <a:t/>
            </a:r>
            <a:endParaRPr sz="1750">
              <a:solidFill>
                <a:srgbClr val="283A5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1750"/>
              <a:buFont typeface="Arial"/>
              <a:buNone/>
            </a:pPr>
            <a:r>
              <a:rPr b="1" lang="en-IE" sz="1750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Spoiler:</a:t>
            </a:r>
            <a:r>
              <a:rPr lang="en-IE" sz="1750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 they don’t!</a:t>
            </a:r>
            <a:endParaRPr sz="1750">
              <a:solidFill>
                <a:srgbClr val="283A5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" name="Google Shape;51;g3764dc6b57b_0_140"/>
          <p:cNvSpPr txBox="1"/>
          <p:nvPr/>
        </p:nvSpPr>
        <p:spPr>
          <a:xfrm>
            <a:off x="1041475" y="2336650"/>
            <a:ext cx="3529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 sz="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Source: https://tinyurl.com/5e3v32e6</a:t>
            </a:r>
            <a:endParaRPr sz="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2" name="Google Shape;52;g3764dc6b57b_0_140"/>
          <p:cNvSpPr txBox="1"/>
          <p:nvPr/>
        </p:nvSpPr>
        <p:spPr>
          <a:xfrm>
            <a:off x="973350" y="5669000"/>
            <a:ext cx="3529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 sz="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Source: https://tinyurl.com/24a5m9w4</a:t>
            </a:r>
            <a:endParaRPr sz="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3" name="Google Shape;53;g3764dc6b57b_0_140"/>
          <p:cNvSpPr txBox="1"/>
          <p:nvPr>
            <p:ph idx="12" type="sldNum"/>
          </p:nvPr>
        </p:nvSpPr>
        <p:spPr>
          <a:xfrm>
            <a:off x="11414987" y="6333134"/>
            <a:ext cx="7320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764dc6b57b_0_28"/>
          <p:cNvSpPr/>
          <p:nvPr/>
        </p:nvSpPr>
        <p:spPr>
          <a:xfrm>
            <a:off x="335825" y="670175"/>
            <a:ext cx="10427100" cy="8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91"/>
              </a:lnSpc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5246"/>
              <a:buFont typeface="Inter"/>
              <a:buNone/>
            </a:pPr>
            <a:r>
              <a:rPr b="1" i="0" lang="en-IE" sz="3450" u="none" cap="none" strike="noStrike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Channel Dependency </a:t>
            </a:r>
            <a:endParaRPr b="0" i="0" sz="3450" u="none" cap="none" strike="noStrike"/>
          </a:p>
        </p:txBody>
      </p:sp>
      <p:sp>
        <p:nvSpPr>
          <p:cNvPr id="60" name="Google Shape;60;g3764dc6b57b_0_28"/>
          <p:cNvSpPr/>
          <p:nvPr/>
        </p:nvSpPr>
        <p:spPr>
          <a:xfrm>
            <a:off x="335825" y="1688325"/>
            <a:ext cx="10350900" cy="12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2072"/>
              <a:buFont typeface="Inter"/>
              <a:buNone/>
            </a:pPr>
            <a:r>
              <a:rPr b="0" i="0" lang="en-IE" sz="2072" u="none" cap="none" strike="noStrike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Channel </a:t>
            </a:r>
            <a:r>
              <a:rPr b="1" lang="en-IE" sz="2072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dependency</a:t>
            </a:r>
            <a:r>
              <a:rPr b="0" i="0" lang="en-IE" sz="2072" u="none" cap="none" strike="noStrike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 refers to the </a:t>
            </a:r>
            <a:r>
              <a:rPr b="1" i="0" lang="en-IE" sz="2072" u="none" cap="none" strike="noStrike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necessity of</a:t>
            </a:r>
            <a:r>
              <a:rPr b="0" i="0" lang="en-IE" sz="2072" u="none" cap="none" strike="noStrike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IE" sz="2072" u="none" cap="none" strike="noStrike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using multiple channels</a:t>
            </a:r>
            <a:r>
              <a:rPr b="0" i="0" lang="en-IE" sz="2072" u="none" cap="none" strike="noStrike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 for successful classification, not just statistical correlation between channels</a:t>
            </a:r>
            <a:endParaRPr b="0" i="0" sz="2072" u="none" cap="none" strike="noStrike"/>
          </a:p>
        </p:txBody>
      </p:sp>
      <p:sp>
        <p:nvSpPr>
          <p:cNvPr id="61" name="Google Shape;61;g3764dc6b57b_0_28"/>
          <p:cNvSpPr/>
          <p:nvPr/>
        </p:nvSpPr>
        <p:spPr>
          <a:xfrm>
            <a:off x="335825" y="3210575"/>
            <a:ext cx="10902300" cy="8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2072"/>
              <a:buFont typeface="Inter"/>
              <a:buNone/>
            </a:pPr>
            <a:r>
              <a:rPr b="1" i="0" lang="en-IE" sz="2072" u="none" cap="none" strike="noStrike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Strong dependency:</a:t>
            </a:r>
            <a:r>
              <a:rPr b="0" i="0" lang="en-IE" sz="2072" u="none" cap="none" strike="noStrike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IE" sz="2072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b="0" i="0" lang="en-IE" sz="2072" u="none" cap="none" strike="noStrike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lassification is </a:t>
            </a:r>
            <a:r>
              <a:rPr lang="en-IE" sz="2072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difficult</a:t>
            </a:r>
            <a:r>
              <a:rPr b="0" i="0" lang="en-IE" sz="2072" u="none" cap="none" strike="noStrike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 using any single channel </a:t>
            </a:r>
            <a:r>
              <a:rPr b="0" i="0" lang="en-IE" sz="2072" u="none" cap="none" strike="noStrike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alone</a:t>
            </a:r>
            <a:endParaRPr b="0" i="0" sz="2072" u="none" cap="none" strike="noStrike"/>
          </a:p>
        </p:txBody>
      </p:sp>
      <p:sp>
        <p:nvSpPr>
          <p:cNvPr id="62" name="Google Shape;62;g3764dc6b57b_0_28"/>
          <p:cNvSpPr/>
          <p:nvPr/>
        </p:nvSpPr>
        <p:spPr>
          <a:xfrm>
            <a:off x="335824" y="4158675"/>
            <a:ext cx="10960500" cy="8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2072"/>
              <a:buFont typeface="Inter"/>
              <a:buNone/>
            </a:pPr>
            <a:r>
              <a:rPr b="1" i="0" lang="en-IE" sz="2072" u="none" cap="none" strike="noStrike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Weak dependency:</a:t>
            </a:r>
            <a:r>
              <a:rPr b="0" i="0" lang="en-IE" sz="2072" u="none" cap="none" strike="noStrike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 A single channel contains sufficient discriminative information</a:t>
            </a:r>
            <a:endParaRPr b="0" i="0" sz="2072" u="none" cap="none" strike="noStrike"/>
          </a:p>
        </p:txBody>
      </p:sp>
      <p:sp>
        <p:nvSpPr>
          <p:cNvPr id="63" name="Google Shape;63;g3764dc6b57b_0_28"/>
          <p:cNvSpPr txBox="1"/>
          <p:nvPr>
            <p:ph idx="12" type="sldNum"/>
          </p:nvPr>
        </p:nvSpPr>
        <p:spPr>
          <a:xfrm>
            <a:off x="11414987" y="6333134"/>
            <a:ext cx="7320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g377974892b3_0_0" title="multivariate_static_conca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4900" y="195400"/>
            <a:ext cx="9868544" cy="65532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g377974892b3_0_0"/>
          <p:cNvSpPr/>
          <p:nvPr/>
        </p:nvSpPr>
        <p:spPr>
          <a:xfrm>
            <a:off x="4612350" y="1116100"/>
            <a:ext cx="546900" cy="10086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1" name="Google Shape;71;g377974892b3_0_0"/>
          <p:cNvSpPr txBox="1"/>
          <p:nvPr>
            <p:ph idx="12" type="sldNum"/>
          </p:nvPr>
        </p:nvSpPr>
        <p:spPr>
          <a:xfrm>
            <a:off x="11414987" y="6333134"/>
            <a:ext cx="7320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764dc6b57b_0_156"/>
          <p:cNvSpPr txBox="1"/>
          <p:nvPr/>
        </p:nvSpPr>
        <p:spPr>
          <a:xfrm>
            <a:off x="11196037" y="5862959"/>
            <a:ext cx="7320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 sz="13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sz="1300">
              <a:solidFill>
                <a:srgbClr val="88888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78" name="Google Shape;78;g3764dc6b57b_0_1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30750"/>
            <a:ext cx="11893548" cy="444277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g3764dc6b57b_0_156"/>
          <p:cNvSpPr txBox="1"/>
          <p:nvPr>
            <p:ph idx="12" type="sldNum"/>
          </p:nvPr>
        </p:nvSpPr>
        <p:spPr>
          <a:xfrm>
            <a:off x="11414987" y="6333134"/>
            <a:ext cx="7320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"/>
          <p:cNvSpPr/>
          <p:nvPr/>
        </p:nvSpPr>
        <p:spPr>
          <a:xfrm>
            <a:off x="231874" y="944575"/>
            <a:ext cx="113970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4450"/>
              <a:buFont typeface="Inter"/>
              <a:buNone/>
            </a:pPr>
            <a:r>
              <a:rPr b="1" i="0" lang="en-IE" sz="3450" u="none" cap="none" strike="noStrike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The Challenge: </a:t>
            </a:r>
            <a:r>
              <a:rPr b="1" i="0" lang="en-IE" sz="3450" u="none" cap="none" strike="noStrike">
                <a:solidFill>
                  <a:srgbClr val="1155CC"/>
                </a:solidFill>
                <a:latin typeface="Inter"/>
                <a:ea typeface="Inter"/>
                <a:cs typeface="Inter"/>
                <a:sym typeface="Inter"/>
              </a:rPr>
              <a:t>Inter-Channel Dependencies</a:t>
            </a:r>
            <a:endParaRPr b="0" i="0" sz="3450" u="none" cap="none" strike="noStrike">
              <a:solidFill>
                <a:srgbClr val="1155CC"/>
              </a:solidFill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458000" y="2338250"/>
            <a:ext cx="3666900" cy="2753700"/>
          </a:xfrm>
          <a:prstGeom prst="roundRect">
            <a:avLst>
              <a:gd fmla="val 3878" name="adj"/>
            </a:avLst>
          </a:prstGeom>
          <a:solidFill>
            <a:srgbClr val="FFFFFF"/>
          </a:solidFill>
          <a:ln cap="flat" cmpd="sng" w="30475">
            <a:solidFill>
              <a:srgbClr val="B3D3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"/>
          <p:cNvSpPr/>
          <p:nvPr/>
        </p:nvSpPr>
        <p:spPr>
          <a:xfrm>
            <a:off x="682828" y="2595544"/>
            <a:ext cx="24777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2200"/>
              <a:buFont typeface="Inter"/>
              <a:buNone/>
            </a:pPr>
            <a:r>
              <a:rPr b="1" i="0" lang="en-IE" sz="2200" u="none" cap="none" strike="noStrike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Current Limitation</a:t>
            </a:r>
            <a:endParaRPr b="0" i="0" sz="2200" u="none" cap="none" strike="noStrike"/>
          </a:p>
        </p:txBody>
      </p:sp>
      <p:sp>
        <p:nvSpPr>
          <p:cNvPr id="87" name="Google Shape;87;p2"/>
          <p:cNvSpPr/>
          <p:nvPr/>
        </p:nvSpPr>
        <p:spPr>
          <a:xfrm>
            <a:off x="682828" y="3085963"/>
            <a:ext cx="3217200" cy="14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1750"/>
              <a:buFont typeface="Inter"/>
              <a:buNone/>
            </a:pPr>
            <a:r>
              <a:rPr b="0" i="0" lang="en-IE" sz="1750" u="none" cap="none" strike="noStrike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Foundation models process channels independently, limiting their ability to capture cross-channel patterns.</a:t>
            </a:r>
            <a:endParaRPr b="0" i="0" sz="1750" u="none" cap="none" strike="noStrike"/>
          </a:p>
        </p:txBody>
      </p:sp>
      <p:sp>
        <p:nvSpPr>
          <p:cNvPr id="88" name="Google Shape;88;p2"/>
          <p:cNvSpPr/>
          <p:nvPr/>
        </p:nvSpPr>
        <p:spPr>
          <a:xfrm>
            <a:off x="4323050" y="2338250"/>
            <a:ext cx="3666900" cy="2753700"/>
          </a:xfrm>
          <a:prstGeom prst="roundRect">
            <a:avLst>
              <a:gd fmla="val 3878" name="adj"/>
            </a:avLst>
          </a:prstGeom>
          <a:solidFill>
            <a:srgbClr val="FFFFFF"/>
          </a:solidFill>
          <a:ln cap="flat" cmpd="sng" w="30475">
            <a:solidFill>
              <a:srgbClr val="B3D3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"/>
          <p:cNvSpPr/>
          <p:nvPr/>
        </p:nvSpPr>
        <p:spPr>
          <a:xfrm>
            <a:off x="4547869" y="2595544"/>
            <a:ext cx="24777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2200"/>
              <a:buFont typeface="Inter"/>
              <a:buNone/>
            </a:pPr>
            <a:r>
              <a:rPr b="1" i="0" lang="en-IE" sz="2200" u="none" cap="none" strike="noStrike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Critical Gap</a:t>
            </a:r>
            <a:endParaRPr b="0" i="0" sz="2200" u="none" cap="none" strike="noStrike"/>
          </a:p>
        </p:txBody>
      </p:sp>
      <p:sp>
        <p:nvSpPr>
          <p:cNvPr id="90" name="Google Shape;90;p2"/>
          <p:cNvSpPr/>
          <p:nvPr/>
        </p:nvSpPr>
        <p:spPr>
          <a:xfrm>
            <a:off x="4547875" y="3085975"/>
            <a:ext cx="3217200" cy="20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1750"/>
              <a:buFont typeface="Inter"/>
              <a:buNone/>
            </a:pPr>
            <a:r>
              <a:rPr b="0" i="0" lang="en-IE" sz="1750" u="none" cap="none" strike="noStrike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Inter-channel relationships are crucial in domains</a:t>
            </a:r>
            <a:r>
              <a:rPr lang="en-IE" sz="1750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IE" sz="1750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like human exercises, health</a:t>
            </a:r>
            <a:endParaRPr b="0" i="0" sz="1750" u="none" cap="none" strike="noStrike"/>
          </a:p>
        </p:txBody>
      </p:sp>
      <p:sp>
        <p:nvSpPr>
          <p:cNvPr id="91" name="Google Shape;91;p2"/>
          <p:cNvSpPr/>
          <p:nvPr/>
        </p:nvSpPr>
        <p:spPr>
          <a:xfrm>
            <a:off x="8188075" y="2338250"/>
            <a:ext cx="3666900" cy="2753700"/>
          </a:xfrm>
          <a:prstGeom prst="roundRect">
            <a:avLst>
              <a:gd fmla="val 3878" name="adj"/>
            </a:avLst>
          </a:prstGeom>
          <a:solidFill>
            <a:srgbClr val="FFFFFF"/>
          </a:solidFill>
          <a:ln cap="flat" cmpd="sng" w="30475">
            <a:solidFill>
              <a:srgbClr val="B3D3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"/>
          <p:cNvSpPr/>
          <p:nvPr/>
        </p:nvSpPr>
        <p:spPr>
          <a:xfrm>
            <a:off x="8412910" y="2595544"/>
            <a:ext cx="24777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2200"/>
              <a:buFont typeface="Inter"/>
              <a:buNone/>
            </a:pPr>
            <a:r>
              <a:rPr b="1" i="0" lang="en-IE" sz="2200" u="none" cap="none" strike="noStrike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Research Focus</a:t>
            </a:r>
            <a:endParaRPr b="0" i="0" sz="2200" u="none" cap="none" strike="noStrike"/>
          </a:p>
        </p:txBody>
      </p:sp>
      <p:sp>
        <p:nvSpPr>
          <p:cNvPr id="93" name="Google Shape;93;p2"/>
          <p:cNvSpPr/>
          <p:nvPr/>
        </p:nvSpPr>
        <p:spPr>
          <a:xfrm>
            <a:off x="8412910" y="3085963"/>
            <a:ext cx="3217200" cy="14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1750"/>
              <a:buFont typeface="Inter"/>
              <a:buNone/>
            </a:pPr>
            <a:r>
              <a:rPr b="0" i="0" lang="en-IE" sz="1750" u="none" cap="none" strike="noStrike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Evaluating how effectively foundation models capture dependencies between different channels or variables.</a:t>
            </a:r>
            <a:endParaRPr b="0" i="0" sz="1750" u="none" cap="none" strike="noStrike"/>
          </a:p>
        </p:txBody>
      </p:sp>
      <p:sp>
        <p:nvSpPr>
          <p:cNvPr id="94" name="Google Shape;94;p2"/>
          <p:cNvSpPr txBox="1"/>
          <p:nvPr>
            <p:ph idx="12" type="sldNum"/>
          </p:nvPr>
        </p:nvSpPr>
        <p:spPr>
          <a:xfrm>
            <a:off x="11414987" y="6333134"/>
            <a:ext cx="7320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764dc6b57b_0_11"/>
          <p:cNvSpPr/>
          <p:nvPr/>
        </p:nvSpPr>
        <p:spPr>
          <a:xfrm>
            <a:off x="304800" y="353975"/>
            <a:ext cx="7324500" cy="7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4450"/>
              <a:buFont typeface="Inter"/>
              <a:buNone/>
            </a:pPr>
            <a:r>
              <a:rPr b="1" i="0" lang="en-IE" sz="3450" u="none" cap="none" strike="noStrike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Foundation Model Approaches</a:t>
            </a:r>
            <a:endParaRPr b="0" i="0" sz="3450" u="none" cap="none" strike="noStrike"/>
          </a:p>
        </p:txBody>
      </p:sp>
      <p:pic>
        <p:nvPicPr>
          <p:cNvPr descr="preencoded.png" id="101" name="Google Shape;101;g3764dc6b57b_0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975" y="1415784"/>
            <a:ext cx="3750108" cy="9726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g3764dc6b57b_0_11"/>
          <p:cNvSpPr/>
          <p:nvPr/>
        </p:nvSpPr>
        <p:spPr>
          <a:xfrm>
            <a:off x="431626" y="2631650"/>
            <a:ext cx="2753100" cy="3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2200"/>
              <a:buFont typeface="Inter"/>
              <a:buNone/>
            </a:pPr>
            <a:r>
              <a:rPr b="1" i="0" lang="en-IE" sz="2200" u="none" cap="none" strike="noStrike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Tokenization-based</a:t>
            </a:r>
            <a:endParaRPr b="0" i="0" sz="2200" u="none" cap="none" strike="noStrike"/>
          </a:p>
        </p:txBody>
      </p:sp>
      <p:sp>
        <p:nvSpPr>
          <p:cNvPr id="103" name="Google Shape;103;g3764dc6b57b_0_11"/>
          <p:cNvSpPr/>
          <p:nvPr/>
        </p:nvSpPr>
        <p:spPr>
          <a:xfrm>
            <a:off x="431619" y="3157433"/>
            <a:ext cx="3358800" cy="7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1750"/>
              <a:buFont typeface="Inter"/>
              <a:buNone/>
            </a:pPr>
            <a:r>
              <a:rPr b="0" i="0" lang="en-IE" sz="1750" u="none" cap="none" strike="noStrike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Convert continuous values to discrete tokens (Chronos)</a:t>
            </a:r>
            <a:endParaRPr b="0" i="0" sz="1750" u="none" cap="none" strike="noStrike"/>
          </a:p>
        </p:txBody>
      </p:sp>
      <p:pic>
        <p:nvPicPr>
          <p:cNvPr descr="preencoded.png" id="104" name="Google Shape;104;g3764dc6b57b_0_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6083" y="1415784"/>
            <a:ext cx="3750108" cy="972689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g3764dc6b57b_0_11"/>
          <p:cNvSpPr/>
          <p:nvPr/>
        </p:nvSpPr>
        <p:spPr>
          <a:xfrm>
            <a:off x="4181728" y="2631645"/>
            <a:ext cx="2445600" cy="3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2200"/>
              <a:buFont typeface="Inter"/>
              <a:buNone/>
            </a:pPr>
            <a:r>
              <a:rPr b="1" i="0" lang="en-IE" sz="2200" u="none" cap="none" strike="noStrike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Patch-based</a:t>
            </a:r>
            <a:endParaRPr b="0" i="0" sz="2200" u="none" cap="none" strike="noStrike"/>
          </a:p>
        </p:txBody>
      </p:sp>
      <p:sp>
        <p:nvSpPr>
          <p:cNvPr id="106" name="Google Shape;106;g3764dc6b57b_0_11"/>
          <p:cNvSpPr/>
          <p:nvPr/>
        </p:nvSpPr>
        <p:spPr>
          <a:xfrm>
            <a:off x="4181728" y="3157433"/>
            <a:ext cx="3358800" cy="11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1750"/>
              <a:buFont typeface="Inter"/>
              <a:buNone/>
            </a:pPr>
            <a:r>
              <a:rPr b="0" i="0" lang="en-IE" sz="1750" u="none" cap="none" strike="noStrike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Segment time series into fixed-length subsequences (OneFitsAll, aLLM4TS, MOMENT, Mantis)</a:t>
            </a:r>
            <a:endParaRPr b="0" i="0" sz="1750" u="none" cap="none" strike="noStrike"/>
          </a:p>
        </p:txBody>
      </p:sp>
      <p:pic>
        <p:nvPicPr>
          <p:cNvPr descr="preencoded.png" id="107" name="Google Shape;107;g3764dc6b57b_0_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36191" y="1415784"/>
            <a:ext cx="3750108" cy="972689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g3764dc6b57b_0_11"/>
          <p:cNvSpPr/>
          <p:nvPr/>
        </p:nvSpPr>
        <p:spPr>
          <a:xfrm>
            <a:off x="7931836" y="2631645"/>
            <a:ext cx="2445600" cy="3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2200"/>
              <a:buFont typeface="Inter"/>
              <a:buNone/>
            </a:pPr>
            <a:r>
              <a:rPr b="1" i="0" lang="en-IE" sz="2200" u="none" cap="none" strike="noStrike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Shape-based</a:t>
            </a:r>
            <a:endParaRPr b="0" i="0" sz="2200" u="none" cap="none" strike="noStrike"/>
          </a:p>
        </p:txBody>
      </p:sp>
      <p:sp>
        <p:nvSpPr>
          <p:cNvPr id="109" name="Google Shape;109;g3764dc6b57b_0_11"/>
          <p:cNvSpPr/>
          <p:nvPr/>
        </p:nvSpPr>
        <p:spPr>
          <a:xfrm>
            <a:off x="7931836" y="3157433"/>
            <a:ext cx="3358800" cy="7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1750"/>
              <a:buFont typeface="Inter"/>
              <a:buNone/>
            </a:pPr>
            <a:r>
              <a:rPr b="0" i="0" lang="en-IE" sz="1750" u="none" cap="none" strike="noStrike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Represent through abstract shape features (VQShape)</a:t>
            </a:r>
            <a:endParaRPr b="0" i="0" sz="1750" u="none" cap="none" strike="noStrike"/>
          </a:p>
        </p:txBody>
      </p:sp>
      <p:sp>
        <p:nvSpPr>
          <p:cNvPr id="110" name="Google Shape;110;g3764dc6b57b_0_11"/>
          <p:cNvSpPr/>
          <p:nvPr/>
        </p:nvSpPr>
        <p:spPr>
          <a:xfrm>
            <a:off x="235975" y="4944609"/>
            <a:ext cx="11250300" cy="7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1750"/>
              <a:buFont typeface="Inter"/>
              <a:buNone/>
            </a:pPr>
            <a:r>
              <a:rPr b="0" i="0" lang="en-IE" sz="1750" u="none" cap="none" strike="noStrike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All approaches process channels independently, reducing complexity from O((L·C)²) to O(C·L²) but missing critical cross-channel interactions</a:t>
            </a:r>
            <a:endParaRPr b="0" i="0" sz="1750" u="none" cap="none" strike="noStrike"/>
          </a:p>
        </p:txBody>
      </p:sp>
      <p:sp>
        <p:nvSpPr>
          <p:cNvPr id="111" name="Google Shape;111;g3764dc6b57b_0_11"/>
          <p:cNvSpPr txBox="1"/>
          <p:nvPr>
            <p:ph idx="12" type="sldNum"/>
          </p:nvPr>
        </p:nvSpPr>
        <p:spPr>
          <a:xfrm>
            <a:off x="11414987" y="6333134"/>
            <a:ext cx="7320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g377974892b3_0_8" title="chronos_scaling_explanation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3975" y="0"/>
            <a:ext cx="723437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377974892b3_0_8"/>
          <p:cNvSpPr/>
          <p:nvPr/>
        </p:nvSpPr>
        <p:spPr>
          <a:xfrm>
            <a:off x="350628" y="1278545"/>
            <a:ext cx="3516900" cy="4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2810"/>
              <a:buFont typeface="Inter"/>
              <a:buNone/>
            </a:pPr>
            <a:r>
              <a:rPr b="1" i="0" lang="en-IE" sz="2210" u="none" cap="none" strike="noStrike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Tokenization-based</a:t>
            </a:r>
            <a:endParaRPr b="0" i="0" sz="2210" u="none" cap="none" strike="noStrike"/>
          </a:p>
        </p:txBody>
      </p:sp>
      <p:sp>
        <p:nvSpPr>
          <p:cNvPr id="119" name="Google Shape;119;g377974892b3_0_8"/>
          <p:cNvSpPr/>
          <p:nvPr/>
        </p:nvSpPr>
        <p:spPr>
          <a:xfrm>
            <a:off x="350619" y="1950192"/>
            <a:ext cx="4290600" cy="9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2235"/>
              <a:buFont typeface="Inter"/>
              <a:buNone/>
            </a:pPr>
            <a:r>
              <a:rPr b="0" i="0" lang="en-IE" sz="1750" u="none" cap="none" strike="noStrike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Convert continuous values to discrete tokens (Chronos)</a:t>
            </a:r>
            <a:endParaRPr b="0" i="0" sz="1750" u="none" cap="none" strike="noStrike"/>
          </a:p>
        </p:txBody>
      </p:sp>
      <p:sp>
        <p:nvSpPr>
          <p:cNvPr id="120" name="Google Shape;120;g377974892b3_0_8"/>
          <p:cNvSpPr txBox="1"/>
          <p:nvPr>
            <p:ph idx="12" type="sldNum"/>
          </p:nvPr>
        </p:nvSpPr>
        <p:spPr>
          <a:xfrm>
            <a:off x="11414987" y="6333134"/>
            <a:ext cx="7320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77974892b3_0_19"/>
          <p:cNvSpPr/>
          <p:nvPr/>
        </p:nvSpPr>
        <p:spPr>
          <a:xfrm>
            <a:off x="295528" y="1183845"/>
            <a:ext cx="2445600" cy="3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2200"/>
              <a:buFont typeface="Inter"/>
              <a:buNone/>
            </a:pPr>
            <a:r>
              <a:rPr b="1" i="0" lang="en-IE" sz="2200" u="none" cap="none" strike="noStrike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Patch-based</a:t>
            </a:r>
            <a:endParaRPr b="0" i="0" sz="2200" u="none" cap="none" strike="noStrike"/>
          </a:p>
        </p:txBody>
      </p:sp>
      <p:sp>
        <p:nvSpPr>
          <p:cNvPr id="127" name="Google Shape;127;g377974892b3_0_19"/>
          <p:cNvSpPr/>
          <p:nvPr/>
        </p:nvSpPr>
        <p:spPr>
          <a:xfrm>
            <a:off x="295528" y="1709633"/>
            <a:ext cx="3358800" cy="11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1750"/>
              <a:buFont typeface="Inter"/>
              <a:buNone/>
            </a:pPr>
            <a:r>
              <a:rPr b="0" i="0" lang="en-IE" sz="1750" u="none" cap="none" strike="noStrike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Segment time series into fixed-length subsequences (OneFitsAll, aLLM4TS, MOMENT, Mantis)</a:t>
            </a:r>
            <a:endParaRPr b="0" i="0" sz="1750" u="none" cap="none" strike="noStrike"/>
          </a:p>
        </p:txBody>
      </p:sp>
      <p:pic>
        <p:nvPicPr>
          <p:cNvPr id="128" name="Google Shape;128;g377974892b3_0_19" title="clean_patch_animation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7400" y="97350"/>
            <a:ext cx="8043551" cy="660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g377974892b3_0_19"/>
          <p:cNvSpPr txBox="1"/>
          <p:nvPr>
            <p:ph idx="12" type="sldNum"/>
          </p:nvPr>
        </p:nvSpPr>
        <p:spPr>
          <a:xfrm>
            <a:off x="11414987" y="6333134"/>
            <a:ext cx="7320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77974892b3_0_30"/>
          <p:cNvSpPr/>
          <p:nvPr/>
        </p:nvSpPr>
        <p:spPr>
          <a:xfrm>
            <a:off x="251211" y="1669245"/>
            <a:ext cx="2445600" cy="3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2200"/>
              <a:buFont typeface="Inter"/>
              <a:buNone/>
            </a:pPr>
            <a:r>
              <a:rPr b="1" i="0" lang="en-IE" sz="2200" u="none" cap="none" strike="noStrike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Shape-based</a:t>
            </a:r>
            <a:endParaRPr b="0" i="0" sz="2200" u="none" cap="none" strike="noStrike"/>
          </a:p>
        </p:txBody>
      </p:sp>
      <p:sp>
        <p:nvSpPr>
          <p:cNvPr id="136" name="Google Shape;136;g377974892b3_0_30"/>
          <p:cNvSpPr/>
          <p:nvPr/>
        </p:nvSpPr>
        <p:spPr>
          <a:xfrm>
            <a:off x="251211" y="2195033"/>
            <a:ext cx="3358800" cy="7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1750"/>
              <a:buFont typeface="Inter"/>
              <a:buNone/>
            </a:pPr>
            <a:r>
              <a:rPr b="0" i="0" lang="en-IE" sz="1750" u="none" cap="none" strike="noStrike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Represent through abstract shape features (VQShape)</a:t>
            </a:r>
            <a:endParaRPr b="0" i="0" sz="1750" u="none" cap="none" strike="noStrike"/>
          </a:p>
        </p:txBody>
      </p:sp>
      <p:pic>
        <p:nvPicPr>
          <p:cNvPr id="137" name="Google Shape;137;g377974892b3_0_30" title="shape_based_matching_simple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5525" y="52025"/>
            <a:ext cx="7962825" cy="680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g377974892b3_0_30"/>
          <p:cNvSpPr txBox="1"/>
          <p:nvPr>
            <p:ph idx="12" type="sldNum"/>
          </p:nvPr>
        </p:nvSpPr>
        <p:spPr>
          <a:xfrm>
            <a:off x="11414987" y="6333134"/>
            <a:ext cx="7320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764dc6b57b_0_38"/>
          <p:cNvSpPr/>
          <p:nvPr/>
        </p:nvSpPr>
        <p:spPr>
          <a:xfrm>
            <a:off x="243699" y="590125"/>
            <a:ext cx="5091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4450"/>
              <a:buFont typeface="Inter"/>
              <a:buNone/>
            </a:pPr>
            <a:r>
              <a:rPr b="1" i="0" lang="en-IE" sz="3450" u="none" cap="none" strike="noStrike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Evaluation Datasets</a:t>
            </a:r>
            <a:endParaRPr b="0" i="0" sz="3450" u="none" cap="none" strike="noStrike"/>
          </a:p>
        </p:txBody>
      </p:sp>
      <p:sp>
        <p:nvSpPr>
          <p:cNvPr id="145" name="Google Shape;145;g3764dc6b57b_0_38"/>
          <p:cNvSpPr/>
          <p:nvPr/>
        </p:nvSpPr>
        <p:spPr>
          <a:xfrm>
            <a:off x="358400" y="1615200"/>
            <a:ext cx="3768000" cy="3707100"/>
          </a:xfrm>
          <a:prstGeom prst="roundRect">
            <a:avLst>
              <a:gd fmla="val 2626" name="adj"/>
            </a:avLst>
          </a:prstGeom>
          <a:solidFill>
            <a:srgbClr val="FFFFFF"/>
          </a:solidFill>
          <a:ln cap="flat" cmpd="sng" w="30475">
            <a:solidFill>
              <a:srgbClr val="B3D3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764dc6b57b_0_38"/>
          <p:cNvSpPr/>
          <p:nvPr/>
        </p:nvSpPr>
        <p:spPr>
          <a:xfrm>
            <a:off x="385766" y="1645691"/>
            <a:ext cx="3713100" cy="680400"/>
          </a:xfrm>
          <a:prstGeom prst="roundRect">
            <a:avLst>
              <a:gd fmla="val 8626" name="adj"/>
            </a:avLst>
          </a:prstGeom>
          <a:solidFill>
            <a:srgbClr val="CDED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764dc6b57b_0_38"/>
          <p:cNvSpPr/>
          <p:nvPr/>
        </p:nvSpPr>
        <p:spPr>
          <a:xfrm>
            <a:off x="385750" y="1620800"/>
            <a:ext cx="37131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2200"/>
              <a:buFont typeface="Inter"/>
              <a:buNone/>
            </a:pPr>
            <a:r>
              <a:rPr b="1" lang="en-IE" sz="2200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Counter Movement Jump (CMJ)</a:t>
            </a:r>
            <a:endParaRPr b="0" i="0" sz="2650" u="none" cap="none" strike="noStrike"/>
          </a:p>
        </p:txBody>
      </p:sp>
      <p:sp>
        <p:nvSpPr>
          <p:cNvPr id="148" name="Google Shape;148;g3764dc6b57b_0_38"/>
          <p:cNvSpPr/>
          <p:nvPr/>
        </p:nvSpPr>
        <p:spPr>
          <a:xfrm>
            <a:off x="385975" y="2719325"/>
            <a:ext cx="3713100" cy="10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1750"/>
              <a:buFont typeface="Inter"/>
              <a:buNone/>
            </a:pPr>
            <a:r>
              <a:rPr b="0" i="0" lang="en-IE" sz="1750" u="none" cap="none" strike="noStrike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Accelerometer data </a:t>
            </a:r>
            <a:endParaRPr b="0" i="0" sz="1750" u="none" cap="none" strike="noStrike">
              <a:solidFill>
                <a:srgbClr val="283A5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1750"/>
              <a:buFont typeface="Inter"/>
              <a:buNone/>
            </a:pPr>
            <a:r>
              <a:rPr b="0" i="0" lang="en-IE" sz="1750" u="none" cap="none" strike="noStrike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(3 channels)</a:t>
            </a:r>
            <a:endParaRPr b="0" i="0" sz="1750" u="none" cap="none" strike="noStrike"/>
          </a:p>
        </p:txBody>
      </p:sp>
      <p:sp>
        <p:nvSpPr>
          <p:cNvPr id="149" name="Google Shape;149;g3764dc6b57b_0_38"/>
          <p:cNvSpPr/>
          <p:nvPr/>
        </p:nvSpPr>
        <p:spPr>
          <a:xfrm>
            <a:off x="589518" y="3760621"/>
            <a:ext cx="33060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AC9EF5"/>
              </a:buClr>
              <a:buSzPts val="1750"/>
              <a:buFont typeface="Inter"/>
              <a:buNone/>
            </a:pPr>
            <a:r>
              <a:rPr b="1" i="0" lang="en-IE" sz="17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Weak channel dependency</a:t>
            </a:r>
            <a:r>
              <a:rPr b="1" lang="en-IE" sz="17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b="1" i="0" lang="en-IE" sz="17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IE" sz="1750" u="none" cap="none" strike="noStrike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class distinctions primarily in y-channel</a:t>
            </a:r>
            <a:endParaRPr b="0" i="0" sz="1750" u="none" cap="none" strike="noStrike"/>
          </a:p>
        </p:txBody>
      </p:sp>
      <p:sp>
        <p:nvSpPr>
          <p:cNvPr id="150" name="Google Shape;150;g3764dc6b57b_0_38"/>
          <p:cNvSpPr/>
          <p:nvPr/>
        </p:nvSpPr>
        <p:spPr>
          <a:xfrm>
            <a:off x="4329875" y="1615200"/>
            <a:ext cx="3768000" cy="3707100"/>
          </a:xfrm>
          <a:prstGeom prst="roundRect">
            <a:avLst>
              <a:gd fmla="val 2626" name="adj"/>
            </a:avLst>
          </a:prstGeom>
          <a:solidFill>
            <a:srgbClr val="FFFFFF"/>
          </a:solidFill>
          <a:ln cap="flat" cmpd="sng" w="30475">
            <a:solidFill>
              <a:srgbClr val="B3D3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764dc6b57b_0_38"/>
          <p:cNvSpPr/>
          <p:nvPr/>
        </p:nvSpPr>
        <p:spPr>
          <a:xfrm>
            <a:off x="4357246" y="1645691"/>
            <a:ext cx="3713100" cy="680400"/>
          </a:xfrm>
          <a:prstGeom prst="roundRect">
            <a:avLst>
              <a:gd fmla="val 8626" name="adj"/>
            </a:avLst>
          </a:prstGeom>
          <a:solidFill>
            <a:srgbClr val="CDED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764dc6b57b_0_38"/>
          <p:cNvSpPr/>
          <p:nvPr/>
        </p:nvSpPr>
        <p:spPr>
          <a:xfrm>
            <a:off x="4302300" y="1769400"/>
            <a:ext cx="37680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2200"/>
              <a:buFont typeface="Inter"/>
              <a:buNone/>
            </a:pPr>
            <a:r>
              <a:rPr b="1" lang="en-IE" sz="2200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Military Press (MP)</a:t>
            </a:r>
            <a:endParaRPr sz="2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2650"/>
              <a:buFont typeface="Inter"/>
              <a:buNone/>
            </a:pPr>
            <a:r>
              <a:t/>
            </a:r>
            <a:endParaRPr b="1" sz="2650">
              <a:solidFill>
                <a:srgbClr val="283A5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3" name="Google Shape;153;g3764dc6b57b_0_38"/>
          <p:cNvSpPr/>
          <p:nvPr/>
        </p:nvSpPr>
        <p:spPr>
          <a:xfrm>
            <a:off x="4560898" y="2552951"/>
            <a:ext cx="25458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2200"/>
              <a:buFont typeface="Inter"/>
              <a:buNone/>
            </a:pPr>
            <a:r>
              <a:t/>
            </a:r>
            <a:endParaRPr b="0" i="0" sz="2200" u="none" cap="none" strike="noStrike"/>
          </a:p>
        </p:txBody>
      </p:sp>
      <p:sp>
        <p:nvSpPr>
          <p:cNvPr id="154" name="Google Shape;154;g3764dc6b57b_0_38"/>
          <p:cNvSpPr/>
          <p:nvPr/>
        </p:nvSpPr>
        <p:spPr>
          <a:xfrm>
            <a:off x="4329875" y="2624563"/>
            <a:ext cx="3768000" cy="8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1750"/>
              <a:buFont typeface="Inter"/>
              <a:buNone/>
            </a:pPr>
            <a:r>
              <a:rPr b="0" i="0" lang="en-IE" sz="1750" u="none" cap="none" strike="noStrike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Motion capture data </a:t>
            </a:r>
            <a:endParaRPr b="0" i="0" sz="1750" u="none" cap="none" strike="noStrike">
              <a:solidFill>
                <a:srgbClr val="283A5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1750"/>
              <a:buFont typeface="Inter"/>
              <a:buNone/>
            </a:pPr>
            <a:r>
              <a:rPr b="0" i="0" lang="en-IE" sz="1750" u="none" cap="none" strike="noStrike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(8 or 50 channels)</a:t>
            </a:r>
            <a:endParaRPr b="0" i="0" sz="1750" u="none" cap="none" strike="noStrike"/>
          </a:p>
        </p:txBody>
      </p:sp>
      <p:sp>
        <p:nvSpPr>
          <p:cNvPr id="155" name="Google Shape;155;g3764dc6b57b_0_38"/>
          <p:cNvSpPr/>
          <p:nvPr/>
        </p:nvSpPr>
        <p:spPr>
          <a:xfrm>
            <a:off x="4560900" y="3723775"/>
            <a:ext cx="3306000" cy="10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AC9EF5"/>
              </a:buClr>
              <a:buSzPts val="1750"/>
              <a:buFont typeface="Inter"/>
              <a:buNone/>
            </a:pPr>
            <a:r>
              <a:rPr b="1" i="0" lang="en-IE" sz="17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Strong channel dependency</a:t>
            </a:r>
            <a:r>
              <a:rPr b="1" lang="en-IE" sz="17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b="0" i="0" lang="en-IE" sz="1750" u="none" cap="none" strike="noStrike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requires minimum 4 channels</a:t>
            </a:r>
            <a:endParaRPr b="0" i="0" sz="1750" u="none" cap="none" strike="noStrike"/>
          </a:p>
        </p:txBody>
      </p:sp>
      <p:sp>
        <p:nvSpPr>
          <p:cNvPr id="156" name="Google Shape;156;g3764dc6b57b_0_38"/>
          <p:cNvSpPr/>
          <p:nvPr/>
        </p:nvSpPr>
        <p:spPr>
          <a:xfrm>
            <a:off x="8301350" y="1615200"/>
            <a:ext cx="3768000" cy="3707100"/>
          </a:xfrm>
          <a:prstGeom prst="roundRect">
            <a:avLst>
              <a:gd fmla="val 2626" name="adj"/>
            </a:avLst>
          </a:prstGeom>
          <a:solidFill>
            <a:srgbClr val="FFFFFF"/>
          </a:solidFill>
          <a:ln cap="flat" cmpd="sng" w="30475">
            <a:solidFill>
              <a:srgbClr val="B3D3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764dc6b57b_0_38"/>
          <p:cNvSpPr/>
          <p:nvPr/>
        </p:nvSpPr>
        <p:spPr>
          <a:xfrm>
            <a:off x="8328726" y="1645691"/>
            <a:ext cx="3713100" cy="680400"/>
          </a:xfrm>
          <a:prstGeom prst="roundRect">
            <a:avLst>
              <a:gd fmla="val 8626" name="adj"/>
            </a:avLst>
          </a:prstGeom>
          <a:solidFill>
            <a:srgbClr val="CDED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764dc6b57b_0_38"/>
          <p:cNvSpPr/>
          <p:nvPr/>
        </p:nvSpPr>
        <p:spPr>
          <a:xfrm>
            <a:off x="8532377" y="2552951"/>
            <a:ext cx="25458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2200"/>
              <a:buFont typeface="Inter"/>
              <a:buNone/>
            </a:pPr>
            <a:r>
              <a:t/>
            </a:r>
            <a:endParaRPr b="0" i="0" sz="2200" u="none" cap="none" strike="noStrike"/>
          </a:p>
        </p:txBody>
      </p:sp>
      <p:sp>
        <p:nvSpPr>
          <p:cNvPr id="159" name="Google Shape;159;g3764dc6b57b_0_38"/>
          <p:cNvSpPr/>
          <p:nvPr/>
        </p:nvSpPr>
        <p:spPr>
          <a:xfrm>
            <a:off x="8301350" y="2680675"/>
            <a:ext cx="37131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1750"/>
              <a:buFont typeface="Inter"/>
              <a:buNone/>
            </a:pPr>
            <a:r>
              <a:rPr b="0" i="0" lang="en-IE" sz="1750" u="none" cap="none" strike="noStrike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Designed dataset </a:t>
            </a:r>
            <a:endParaRPr b="0" i="0" sz="1750" u="none" cap="none" strike="noStrike">
              <a:solidFill>
                <a:srgbClr val="283A5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1750"/>
              <a:buFont typeface="Inter"/>
              <a:buNone/>
            </a:pPr>
            <a:r>
              <a:rPr b="0" i="0" lang="en-IE" sz="1750" u="none" cap="none" strike="noStrike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(8 channels)</a:t>
            </a:r>
            <a:endParaRPr b="0" i="0" sz="1750" u="none" cap="none" strike="noStrike"/>
          </a:p>
        </p:txBody>
      </p:sp>
      <p:sp>
        <p:nvSpPr>
          <p:cNvPr id="160" name="Google Shape;160;g3764dc6b57b_0_38"/>
          <p:cNvSpPr/>
          <p:nvPr/>
        </p:nvSpPr>
        <p:spPr>
          <a:xfrm>
            <a:off x="8383300" y="3723775"/>
            <a:ext cx="34551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AC9EF5"/>
              </a:buClr>
              <a:buSzPts val="1750"/>
              <a:buFont typeface="Inter"/>
              <a:buNone/>
            </a:pPr>
            <a:r>
              <a:rPr b="1" i="0" lang="en-IE" sz="17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Strong channel dependency</a:t>
            </a:r>
            <a:r>
              <a:rPr b="1" lang="en-IE" sz="17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b="1" sz="175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AC9EF5"/>
              </a:buClr>
              <a:buSzPts val="1750"/>
              <a:buFont typeface="Inter"/>
              <a:buNone/>
            </a:pPr>
            <a:r>
              <a:rPr b="0" i="0" lang="en-IE" sz="1750" u="none" cap="none" strike="noStrike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features in only 2 random channels (requires min 2 channels)</a:t>
            </a:r>
            <a:endParaRPr b="0" i="0" sz="1750" u="none" cap="none" strike="noStrike"/>
          </a:p>
        </p:txBody>
      </p:sp>
      <p:sp>
        <p:nvSpPr>
          <p:cNvPr id="161" name="Google Shape;161;g3764dc6b57b_0_38"/>
          <p:cNvSpPr/>
          <p:nvPr/>
        </p:nvSpPr>
        <p:spPr>
          <a:xfrm>
            <a:off x="8301350" y="1748300"/>
            <a:ext cx="37680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2200"/>
              <a:buFont typeface="Inter"/>
              <a:buNone/>
            </a:pPr>
            <a:r>
              <a:rPr b="1" lang="en-IE" sz="2200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Synthetic (SYNTH)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2200"/>
              <a:buFont typeface="Inter"/>
              <a:buNone/>
            </a:pPr>
            <a:r>
              <a:t/>
            </a:r>
            <a:endParaRPr b="1" sz="2200">
              <a:solidFill>
                <a:srgbClr val="283A5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2650"/>
              <a:buFont typeface="Inter"/>
              <a:buNone/>
            </a:pPr>
            <a:r>
              <a:t/>
            </a:r>
            <a:endParaRPr b="1" sz="2650">
              <a:solidFill>
                <a:srgbClr val="283A5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2" name="Google Shape;162;g3764dc6b57b_0_38"/>
          <p:cNvSpPr txBox="1"/>
          <p:nvPr>
            <p:ph idx="12" type="sldNum"/>
          </p:nvPr>
        </p:nvSpPr>
        <p:spPr>
          <a:xfrm>
            <a:off x="11414987" y="6333134"/>
            <a:ext cx="7320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77974892b3_0_40"/>
          <p:cNvSpPr/>
          <p:nvPr/>
        </p:nvSpPr>
        <p:spPr>
          <a:xfrm>
            <a:off x="538074" y="235675"/>
            <a:ext cx="5091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4450"/>
              <a:buFont typeface="Inter"/>
              <a:buNone/>
            </a:pPr>
            <a:r>
              <a:rPr b="1" lang="en-IE" sz="3450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Experimental </a:t>
            </a:r>
            <a:r>
              <a:rPr b="1" lang="en-IE" sz="3450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  <a:extLst>
                  <a:ext uri="http://customooxmlschemas.google.com/">
                    <go:slidesCustomData xmlns:go="http://customooxmlschemas.google.com/" textRoundtripDataId="1"/>
                  </a:ext>
                </a:extLst>
              </a:rPr>
              <a:t>Results</a:t>
            </a:r>
            <a:endParaRPr b="0" i="0" sz="3450" u="none" cap="none" strike="noStrike"/>
          </a:p>
        </p:txBody>
      </p:sp>
      <p:graphicFrame>
        <p:nvGraphicFramePr>
          <p:cNvPr id="169" name="Google Shape;169;g377974892b3_0_40"/>
          <p:cNvGraphicFramePr/>
          <p:nvPr/>
        </p:nvGraphicFramePr>
        <p:xfrm>
          <a:off x="932941" y="941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{7F354575-1730-4EEE-90FD-D2D083BFFBBF}</a:tableStyleId>
              </a:tblPr>
              <a:tblGrid>
                <a:gridCol w="1966525"/>
                <a:gridCol w="1602400"/>
                <a:gridCol w="1311000"/>
                <a:gridCol w="1398400"/>
                <a:gridCol w="1514975"/>
                <a:gridCol w="1718925"/>
              </a:tblGrid>
              <a:tr h="628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E"/>
                        <a:t>Method Category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E"/>
                        <a:t>Method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E"/>
                        <a:t>CMJ </a:t>
                      </a:r>
                      <a:endParaRPr b="1"/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E"/>
                        <a:t>(Weak)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E"/>
                        <a:t>MP8 (Strong)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E"/>
                        <a:t>MP50 </a:t>
                      </a:r>
                      <a:endParaRPr b="1"/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E"/>
                        <a:t>(Strong)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E"/>
                        <a:t>SYNTH </a:t>
                      </a:r>
                      <a:endParaRPr b="1"/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E"/>
                        <a:t>(Strong)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950">
                <a:tc row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E"/>
                        <a:t>Time Series Specific 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/>
                        <a:t>ROCKET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/>
                        <a:t>0.950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/>
                        <a:t>0.743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/>
                        <a:t>0.793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/>
                        <a:t>0.861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9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/>
                        <a:t>QUANT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/>
                        <a:t>0.933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/>
                        <a:t>0.696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/>
                        <a:t>0.740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/>
                        <a:t>0.964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3639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/>
                        <a:t>MiniRocket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/>
                        <a:t>0.944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/>
                        <a:t>0.741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/>
                        <a:t>0.787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/>
                        <a:t>0.882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950"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E"/>
                        <a:t>Deep Learning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155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/>
                        <a:t>InceptionTime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/>
                        <a:t>0.905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/>
                        <a:t>0.832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/>
                        <a:t>0.781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/>
                        <a:t>0.691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9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/>
                        <a:t>ConvTran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155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>
                          <a:solidFill>
                            <a:schemeClr val="lt1"/>
                          </a:solidFill>
                        </a:rPr>
                        <a:t>0.866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155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/>
                        <a:t>0.804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155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/>
                        <a:t>0.570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155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/>
                        <a:t>0.930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155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63950">
                <a:tc rowSpan="4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E"/>
                        <a:t>Foundation Models</a:t>
                      </a:r>
                      <a:endParaRPr b="1"/>
                    </a:p>
                  </a:txBody>
                  <a:tcPr marT="91425" marB="91425" marR="91425" marL="91425">
                    <a:lnL cap="flat" cmpd="sng" w="38100">
                      <a:solidFill>
                        <a:srgbClr val="1155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155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/>
                        <a:t>Mantis (best)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155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/>
                        <a:t>0.955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155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/>
                        <a:t>0.697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155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/>
                        <a:t>0.773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155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/>
                        <a:t>0.929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1155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155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9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/>
                        <a:t>MOMENT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>
                          <a:solidFill>
                            <a:schemeClr val="lt1"/>
                          </a:solidFill>
                        </a:rPr>
                        <a:t>0.855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>
                          <a:solidFill>
                            <a:schemeClr val="lt1"/>
                          </a:solidFill>
                        </a:rPr>
                        <a:t>0.489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/>
                        <a:t>0.662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/>
                        <a:t>0.768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1155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9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/>
                        <a:t>Chronos (best)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/>
                        <a:t>0.927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>
                          <a:solidFill>
                            <a:schemeClr val="lt1"/>
                          </a:solidFill>
                        </a:rPr>
                        <a:t>0.467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>
                          <a:solidFill>
                            <a:schemeClr val="dk1"/>
                          </a:solidFill>
                        </a:rPr>
                        <a:t>0.287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>
                          <a:solidFill>
                            <a:schemeClr val="lt1"/>
                          </a:solidFill>
                        </a:rPr>
                        <a:t>0.513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1155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</a:tr>
              <a:tr h="3639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/>
                        <a:t>aLLM4TS (best)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/>
                        <a:t>0.872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/>
                        <a:t>0.689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>
                          <a:solidFill>
                            <a:schemeClr val="dk1"/>
                          </a:solidFill>
                        </a:rPr>
                        <a:t>0.472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>
                          <a:solidFill>
                            <a:schemeClr val="lt1"/>
                          </a:solidFill>
                        </a:rPr>
                        <a:t>0.505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1155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39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>
                    <a:lnL cap="flat" cmpd="sng" w="38100">
                      <a:solidFill>
                        <a:srgbClr val="1155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/>
                        <a:t>VQShape (best)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/>
                        <a:t>0.920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/>
                        <a:t>0.659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>
                          <a:solidFill>
                            <a:schemeClr val="lt1"/>
                          </a:solidFill>
                        </a:rPr>
                        <a:t>0.368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>
                          <a:solidFill>
                            <a:schemeClr val="dk1"/>
                          </a:solidFill>
                        </a:rPr>
                        <a:t>0.671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1155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7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>
                    <a:lnL cap="flat" cmpd="sng" w="38100">
                      <a:solidFill>
                        <a:srgbClr val="1155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155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/>
                        <a:t>One-fits-all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155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>
                          <a:solidFill>
                            <a:schemeClr val="lt1"/>
                          </a:solidFill>
                        </a:rPr>
                        <a:t>0.866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155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/>
                        <a:t>0.644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155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>
                          <a:solidFill>
                            <a:schemeClr val="lt1"/>
                          </a:solidFill>
                        </a:rPr>
                        <a:t>0.266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155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>
                          <a:solidFill>
                            <a:schemeClr val="dk1"/>
                          </a:solidFill>
                        </a:rPr>
                        <a:t>0.672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1155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155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0" name="Google Shape;170;g377974892b3_0_40"/>
          <p:cNvSpPr txBox="1"/>
          <p:nvPr>
            <p:ph idx="12" type="sldNum"/>
          </p:nvPr>
        </p:nvSpPr>
        <p:spPr>
          <a:xfrm>
            <a:off x="11414987" y="6333134"/>
            <a:ext cx="7320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  <p:graphicFrame>
        <p:nvGraphicFramePr>
          <p:cNvPr id="171" name="Google Shape;171;g377974892b3_0_40"/>
          <p:cNvGraphicFramePr/>
          <p:nvPr/>
        </p:nvGraphicFramePr>
        <p:xfrm>
          <a:off x="10838550" y="1279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{0F89FB6D-309A-4A68-9CC9-02C8509EFB6B}</a:tableStyleId>
              </a:tblPr>
              <a:tblGrid>
                <a:gridCol w="969575"/>
              </a:tblGrid>
              <a:tr h="501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/>
                        <a:t>Best 2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501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>
                          <a:solidFill>
                            <a:schemeClr val="lt1"/>
                          </a:solidFill>
                        </a:rPr>
                        <a:t>Worst 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g3764dc6b57b_0_164" title="01_main_comparis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000" y="232725"/>
            <a:ext cx="10180475" cy="5940276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g3764dc6b57b_0_164"/>
          <p:cNvSpPr txBox="1"/>
          <p:nvPr>
            <p:ph idx="12" type="sldNum"/>
          </p:nvPr>
        </p:nvSpPr>
        <p:spPr>
          <a:xfrm>
            <a:off x="11414987" y="6333134"/>
            <a:ext cx="7320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g3764dc6b57b_0_170" title="02_performance_ga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230925" cy="6553201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g3764dc6b57b_0_170"/>
          <p:cNvSpPr txBox="1"/>
          <p:nvPr>
            <p:ph idx="12" type="sldNum"/>
          </p:nvPr>
        </p:nvSpPr>
        <p:spPr>
          <a:xfrm>
            <a:off x="11414987" y="6333134"/>
            <a:ext cx="7320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g3764dc6b57b_0_176" title="03_foundation_models_detail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152400"/>
            <a:ext cx="11230925" cy="6553201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g3764dc6b57b_0_176"/>
          <p:cNvSpPr txBox="1"/>
          <p:nvPr>
            <p:ph idx="12" type="sldNum"/>
          </p:nvPr>
        </p:nvSpPr>
        <p:spPr>
          <a:xfrm>
            <a:off x="11414987" y="6333134"/>
            <a:ext cx="7320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764dc6b57b_0_89"/>
          <p:cNvSpPr txBox="1"/>
          <p:nvPr>
            <p:ph idx="12" type="sldNum"/>
          </p:nvPr>
        </p:nvSpPr>
        <p:spPr>
          <a:xfrm>
            <a:off x="11414987" y="6333134"/>
            <a:ext cx="7320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  <p:sp>
        <p:nvSpPr>
          <p:cNvPr id="199" name="Google Shape;199;g3764dc6b57b_0_89"/>
          <p:cNvSpPr/>
          <p:nvPr/>
        </p:nvSpPr>
        <p:spPr>
          <a:xfrm>
            <a:off x="1943100" y="673100"/>
            <a:ext cx="3479700" cy="4187700"/>
          </a:xfrm>
          <a:prstGeom prst="roundRect">
            <a:avLst>
              <a:gd fmla="val 16667" name="adj"/>
            </a:avLst>
          </a:prstGeom>
          <a:solidFill>
            <a:srgbClr val="CDEDFE"/>
          </a:solidFill>
          <a:ln cap="flat" cmpd="sng" w="7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150" lIns="69150" spcFirstLastPara="1" rIns="69150" wrap="square" tIns="69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8">
              <a:highlight>
                <a:schemeClr val="dk2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0" name="Google Shape;200;g3764dc6b57b_0_89"/>
          <p:cNvSpPr txBox="1"/>
          <p:nvPr/>
        </p:nvSpPr>
        <p:spPr>
          <a:xfrm>
            <a:off x="2106315" y="673100"/>
            <a:ext cx="2929500" cy="8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69150" lIns="69150" spcFirstLastPara="1" rIns="69150" wrap="square" tIns="691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E" sz="2420">
                <a:solidFill>
                  <a:srgbClr val="283A5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Mantis</a:t>
            </a:r>
            <a:endParaRPr b="1" sz="2420">
              <a:solidFill>
                <a:srgbClr val="283A5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2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1" name="Google Shape;201;g3764dc6b57b_0_89"/>
          <p:cNvSpPr/>
          <p:nvPr/>
        </p:nvSpPr>
        <p:spPr>
          <a:xfrm>
            <a:off x="2087105" y="1239815"/>
            <a:ext cx="3179400" cy="595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150" lIns="69150" spcFirstLastPara="1" rIns="69150" wrap="square" tIns="69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8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2" name="Google Shape;202;g3764dc6b57b_0_89"/>
          <p:cNvSpPr txBox="1"/>
          <p:nvPr/>
        </p:nvSpPr>
        <p:spPr>
          <a:xfrm>
            <a:off x="2087029" y="1258194"/>
            <a:ext cx="31794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69150" lIns="69150" spcFirstLastPara="1" rIns="69150" wrap="square" tIns="691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E" sz="1361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Accuracy (MP50)</a:t>
            </a:r>
            <a:endParaRPr b="1" sz="1361">
              <a:solidFill>
                <a:srgbClr val="283A5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E" sz="1361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77.3%</a:t>
            </a:r>
            <a:endParaRPr b="1" sz="1361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3" name="Google Shape;203;g3764dc6b57b_0_89"/>
          <p:cNvSpPr/>
          <p:nvPr/>
        </p:nvSpPr>
        <p:spPr>
          <a:xfrm>
            <a:off x="2087105" y="1979426"/>
            <a:ext cx="3179400" cy="595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150" lIns="69150" spcFirstLastPara="1" rIns="69150" wrap="square" tIns="69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8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4" name="Google Shape;204;g3764dc6b57b_0_89"/>
          <p:cNvSpPr/>
          <p:nvPr/>
        </p:nvSpPr>
        <p:spPr>
          <a:xfrm>
            <a:off x="2087105" y="2719037"/>
            <a:ext cx="3179400" cy="595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150" lIns="69150" spcFirstLastPara="1" rIns="69150" wrap="square" tIns="69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8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3764dc6b57b_0_89"/>
          <p:cNvSpPr txBox="1"/>
          <p:nvPr/>
        </p:nvSpPr>
        <p:spPr>
          <a:xfrm>
            <a:off x="2087029" y="1988615"/>
            <a:ext cx="31794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69150" lIns="69150" spcFirstLastPara="1" rIns="69150" wrap="square" tIns="691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E" sz="1361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Fine-tuning Time</a:t>
            </a:r>
            <a:endParaRPr b="1" sz="1361">
              <a:solidFill>
                <a:srgbClr val="283A5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E" sz="1361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Hours</a:t>
            </a:r>
            <a:endParaRPr b="1" sz="1361">
              <a:solidFill>
                <a:srgbClr val="FF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6" name="Google Shape;206;g3764dc6b57b_0_89"/>
          <p:cNvSpPr txBox="1"/>
          <p:nvPr/>
        </p:nvSpPr>
        <p:spPr>
          <a:xfrm>
            <a:off x="2087029" y="2719037"/>
            <a:ext cx="31794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69150" lIns="69150" spcFirstLastPara="1" rIns="69150" wrap="square" tIns="691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E" sz="1361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Model Complexity</a:t>
            </a:r>
            <a:endParaRPr b="1" sz="1361">
              <a:solidFill>
                <a:srgbClr val="283A5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E" sz="1361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Very High</a:t>
            </a:r>
            <a:endParaRPr b="1" sz="1361">
              <a:solidFill>
                <a:srgbClr val="FF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7" name="Google Shape;207;g3764dc6b57b_0_89"/>
          <p:cNvSpPr/>
          <p:nvPr/>
        </p:nvSpPr>
        <p:spPr>
          <a:xfrm>
            <a:off x="2087029" y="3401016"/>
            <a:ext cx="3179400" cy="1248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150" lIns="69150" spcFirstLastPara="1" rIns="69150" wrap="square" tIns="69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8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8" name="Google Shape;208;g3764dc6b57b_0_89"/>
          <p:cNvSpPr txBox="1"/>
          <p:nvPr/>
        </p:nvSpPr>
        <p:spPr>
          <a:xfrm>
            <a:off x="2106315" y="3516280"/>
            <a:ext cx="3179400" cy="9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69150" lIns="69150" spcFirstLastPara="1" rIns="69150" wrap="square" tIns="691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E" sz="1361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Has channel adapters (PCA, SVD)</a:t>
            </a:r>
            <a:endParaRPr b="1" sz="1361">
              <a:solidFill>
                <a:srgbClr val="283A5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E" sz="1361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33x faster with adapters but still slower &amp; process channel </a:t>
            </a:r>
            <a:r>
              <a:rPr b="1" lang="en-IE" sz="1361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independently</a:t>
            </a:r>
            <a:endParaRPr b="1" sz="1361">
              <a:solidFill>
                <a:srgbClr val="283A5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9" name="Google Shape;209;g3764dc6b57b_0_89"/>
          <p:cNvSpPr/>
          <p:nvPr/>
        </p:nvSpPr>
        <p:spPr>
          <a:xfrm>
            <a:off x="7062725" y="673100"/>
            <a:ext cx="3479700" cy="4187700"/>
          </a:xfrm>
          <a:prstGeom prst="roundRect">
            <a:avLst>
              <a:gd fmla="val 16667" name="adj"/>
            </a:avLst>
          </a:prstGeom>
          <a:solidFill>
            <a:srgbClr val="CDEDFE"/>
          </a:solidFill>
          <a:ln cap="flat" cmpd="sng" w="7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150" lIns="69150" spcFirstLastPara="1" rIns="69150" wrap="square" tIns="69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8">
              <a:highlight>
                <a:schemeClr val="dk2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0" name="Google Shape;210;g3764dc6b57b_0_89"/>
          <p:cNvSpPr txBox="1"/>
          <p:nvPr/>
        </p:nvSpPr>
        <p:spPr>
          <a:xfrm>
            <a:off x="7225932" y="673100"/>
            <a:ext cx="2929500" cy="8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69150" lIns="69150" spcFirstLastPara="1" rIns="69150" wrap="square" tIns="691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E" sz="2420">
                <a:solidFill>
                  <a:srgbClr val="283A5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MiniRocket</a:t>
            </a:r>
            <a:endParaRPr b="1" sz="2420">
              <a:solidFill>
                <a:srgbClr val="283A5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2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1" name="Google Shape;211;g3764dc6b57b_0_89"/>
          <p:cNvSpPr/>
          <p:nvPr/>
        </p:nvSpPr>
        <p:spPr>
          <a:xfrm>
            <a:off x="7206721" y="1239815"/>
            <a:ext cx="3179400" cy="595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150" lIns="69150" spcFirstLastPara="1" rIns="69150" wrap="square" tIns="69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8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2" name="Google Shape;212;g3764dc6b57b_0_89"/>
          <p:cNvSpPr txBox="1"/>
          <p:nvPr/>
        </p:nvSpPr>
        <p:spPr>
          <a:xfrm>
            <a:off x="7206646" y="1258194"/>
            <a:ext cx="31794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69150" lIns="69150" spcFirstLastPara="1" rIns="69150" wrap="square" tIns="691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E" sz="1361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Accuracy (MP50)</a:t>
            </a:r>
            <a:endParaRPr b="1" sz="1361">
              <a:solidFill>
                <a:srgbClr val="283A5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E" sz="1361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78.7%</a:t>
            </a:r>
            <a:endParaRPr b="1" sz="1361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3" name="Google Shape;213;g3764dc6b57b_0_89"/>
          <p:cNvSpPr/>
          <p:nvPr/>
        </p:nvSpPr>
        <p:spPr>
          <a:xfrm>
            <a:off x="7206721" y="1979426"/>
            <a:ext cx="3179400" cy="595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150" lIns="69150" spcFirstLastPara="1" rIns="69150" wrap="square" tIns="69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8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4" name="Google Shape;214;g3764dc6b57b_0_89"/>
          <p:cNvSpPr/>
          <p:nvPr/>
        </p:nvSpPr>
        <p:spPr>
          <a:xfrm>
            <a:off x="7206721" y="2719037"/>
            <a:ext cx="3179400" cy="595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150" lIns="69150" spcFirstLastPara="1" rIns="69150" wrap="square" tIns="69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8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5" name="Google Shape;215;g3764dc6b57b_0_89"/>
          <p:cNvSpPr txBox="1"/>
          <p:nvPr/>
        </p:nvSpPr>
        <p:spPr>
          <a:xfrm>
            <a:off x="7206646" y="1988615"/>
            <a:ext cx="31794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69150" lIns="69150" spcFirstLastPara="1" rIns="69150" wrap="square" tIns="691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E" sz="1361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Training</a:t>
            </a:r>
            <a:r>
              <a:rPr b="1" lang="en-IE" sz="1361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 Time</a:t>
            </a:r>
            <a:endParaRPr b="1" sz="1361">
              <a:solidFill>
                <a:srgbClr val="283A5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E" sz="1361">
                <a:solidFill>
                  <a:srgbClr val="38761D"/>
                </a:solidFill>
                <a:latin typeface="Inter"/>
                <a:ea typeface="Inter"/>
                <a:cs typeface="Inter"/>
                <a:sym typeface="Inter"/>
              </a:rPr>
              <a:t>4.86 sec</a:t>
            </a:r>
            <a:endParaRPr b="1" sz="1361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Google Shape;216;g3764dc6b57b_0_89"/>
          <p:cNvSpPr txBox="1"/>
          <p:nvPr/>
        </p:nvSpPr>
        <p:spPr>
          <a:xfrm>
            <a:off x="7206646" y="2719037"/>
            <a:ext cx="31794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69150" lIns="69150" spcFirstLastPara="1" rIns="69150" wrap="square" tIns="691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E" sz="1361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Model Complexity</a:t>
            </a:r>
            <a:endParaRPr b="1" sz="1361">
              <a:solidFill>
                <a:srgbClr val="283A5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E" sz="1361">
                <a:solidFill>
                  <a:srgbClr val="38761D"/>
                </a:solidFill>
                <a:latin typeface="Inter"/>
                <a:ea typeface="Inter"/>
                <a:cs typeface="Inter"/>
                <a:sym typeface="Inter"/>
              </a:rPr>
              <a:t>Low</a:t>
            </a:r>
            <a:endParaRPr b="1" sz="1361">
              <a:solidFill>
                <a:srgbClr val="38761D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7" name="Google Shape;217;g3764dc6b57b_0_89"/>
          <p:cNvSpPr/>
          <p:nvPr/>
        </p:nvSpPr>
        <p:spPr>
          <a:xfrm>
            <a:off x="7206646" y="3573912"/>
            <a:ext cx="3179400" cy="978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150" lIns="69150" spcFirstLastPara="1" rIns="69150" wrap="square" tIns="69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8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8" name="Google Shape;218;g3764dc6b57b_0_89"/>
          <p:cNvSpPr txBox="1"/>
          <p:nvPr/>
        </p:nvSpPr>
        <p:spPr>
          <a:xfrm>
            <a:off x="7206721" y="3573912"/>
            <a:ext cx="3179400" cy="7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69150" lIns="69150" spcFirstLastPara="1" rIns="69150" wrap="square" tIns="691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E" sz="1361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No adapters needed, inherently fast and efficient &amp; considers inter-channel dependencies.</a:t>
            </a:r>
            <a:endParaRPr b="1" sz="1361">
              <a:solidFill>
                <a:srgbClr val="283A5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9" name="Google Shape;219;g3764dc6b57b_0_89"/>
          <p:cNvSpPr txBox="1"/>
          <p:nvPr/>
        </p:nvSpPr>
        <p:spPr>
          <a:xfrm>
            <a:off x="645275" y="4884888"/>
            <a:ext cx="10922100" cy="11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E" sz="2420">
                <a:solidFill>
                  <a:srgbClr val="283A5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Key Takeaway: </a:t>
            </a:r>
            <a:endParaRPr sz="1761">
              <a:solidFill>
                <a:srgbClr val="283A5E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761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Even with adapters, Mantis requires more resources while achieving lower accuracy than time series specific methods</a:t>
            </a:r>
            <a:r>
              <a:rPr lang="en-IE" sz="19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sz="1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0" name="Google Shape;220;g3764dc6b57b_0_89"/>
          <p:cNvSpPr txBox="1"/>
          <p:nvPr/>
        </p:nvSpPr>
        <p:spPr>
          <a:xfrm>
            <a:off x="5905500" y="2247900"/>
            <a:ext cx="654900" cy="5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E" sz="2420">
                <a:solidFill>
                  <a:srgbClr val="283A5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VS</a:t>
            </a:r>
            <a:endParaRPr b="1" sz="2420">
              <a:solidFill>
                <a:srgbClr val="283A5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1" name="Google Shape;221;g3764dc6b57b_0_89"/>
          <p:cNvSpPr txBox="1"/>
          <p:nvPr/>
        </p:nvSpPr>
        <p:spPr>
          <a:xfrm>
            <a:off x="111275" y="96725"/>
            <a:ext cx="6225900" cy="5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E" sz="2420">
                <a:solidFill>
                  <a:srgbClr val="283A5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COMPUTATIONAL REALITY CHECK:</a:t>
            </a:r>
            <a:endParaRPr b="1" sz="2420">
              <a:solidFill>
                <a:srgbClr val="283A5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79ad339b33_0_33"/>
          <p:cNvSpPr txBox="1"/>
          <p:nvPr>
            <p:ph idx="12" type="sldNum"/>
          </p:nvPr>
        </p:nvSpPr>
        <p:spPr>
          <a:xfrm>
            <a:off x="11414987" y="6333134"/>
            <a:ext cx="7320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  <p:pic>
        <p:nvPicPr>
          <p:cNvPr id="228" name="Google Shape;228;g379ad339b33_0_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9075" y="152400"/>
            <a:ext cx="6584860" cy="6553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77974892b3_0_47"/>
          <p:cNvSpPr/>
          <p:nvPr/>
        </p:nvSpPr>
        <p:spPr>
          <a:xfrm>
            <a:off x="296400" y="533550"/>
            <a:ext cx="4910700" cy="6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3854"/>
              <a:buFont typeface="Inter"/>
              <a:buNone/>
            </a:pPr>
            <a:r>
              <a:rPr b="1" lang="en-IE" sz="3450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Key Research Findings</a:t>
            </a:r>
            <a:endParaRPr b="0" i="0" sz="3450" u="none" cap="none" strike="noStrike"/>
          </a:p>
        </p:txBody>
      </p:sp>
      <p:sp>
        <p:nvSpPr>
          <p:cNvPr id="235" name="Google Shape;235;g377974892b3_0_47"/>
          <p:cNvSpPr/>
          <p:nvPr/>
        </p:nvSpPr>
        <p:spPr>
          <a:xfrm>
            <a:off x="296400" y="1757352"/>
            <a:ext cx="5489700" cy="831600"/>
          </a:xfrm>
          <a:prstGeom prst="roundRect">
            <a:avLst>
              <a:gd fmla="val 5654" name="adj"/>
            </a:avLst>
          </a:prstGeom>
          <a:solidFill>
            <a:srgbClr val="CDEDFE"/>
          </a:solidFill>
          <a:ln cap="flat" cmpd="sng" w="8250">
            <a:solidFill>
              <a:srgbClr val="B3D3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175" lIns="79175" spcFirstLastPara="1" rIns="79175" wrap="square" tIns="79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77974892b3_0_47"/>
          <p:cNvSpPr/>
          <p:nvPr/>
        </p:nvSpPr>
        <p:spPr>
          <a:xfrm>
            <a:off x="499496" y="1858908"/>
            <a:ext cx="51432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1516"/>
              <a:buFont typeface="Inter"/>
              <a:buNone/>
            </a:pPr>
            <a:r>
              <a:rPr lang="en-IE" sz="1515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  <a:extLst>
                  <a:ext uri="http://customooxmlschemas.google.com/">
                    <go:slidesCustomData xmlns:go="http://customooxmlschemas.google.com/" textRoundtripDataId="2"/>
                  </a:ext>
                </a:extLst>
              </a:rPr>
              <a:t>Many </a:t>
            </a:r>
            <a:r>
              <a:rPr lang="en-IE" sz="1515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foundation models process channels independently</a:t>
            </a:r>
            <a:endParaRPr sz="1515">
              <a:solidFill>
                <a:srgbClr val="283A5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7" name="Google Shape;237;g377974892b3_0_47"/>
          <p:cNvSpPr/>
          <p:nvPr/>
        </p:nvSpPr>
        <p:spPr>
          <a:xfrm>
            <a:off x="6519221" y="2346284"/>
            <a:ext cx="51432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1516"/>
              <a:buFont typeface="Inter"/>
              <a:buNone/>
            </a:pPr>
            <a:r>
              <a:t/>
            </a:r>
            <a:endParaRPr b="0" i="0" sz="1515" u="none" cap="none" strike="noStrike"/>
          </a:p>
        </p:txBody>
      </p:sp>
      <p:sp>
        <p:nvSpPr>
          <p:cNvPr id="238" name="Google Shape;238;g377974892b3_0_47"/>
          <p:cNvSpPr/>
          <p:nvPr/>
        </p:nvSpPr>
        <p:spPr>
          <a:xfrm>
            <a:off x="296400" y="2747950"/>
            <a:ext cx="5489700" cy="1503900"/>
          </a:xfrm>
          <a:prstGeom prst="roundRect">
            <a:avLst>
              <a:gd fmla="val 5654" name="adj"/>
            </a:avLst>
          </a:prstGeom>
          <a:solidFill>
            <a:srgbClr val="CDEDFE"/>
          </a:solidFill>
          <a:ln cap="flat" cmpd="sng" w="8250">
            <a:solidFill>
              <a:srgbClr val="B3D3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175" lIns="79175" spcFirstLastPara="1" rIns="79175" wrap="square" tIns="79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77974892b3_0_47"/>
          <p:cNvSpPr/>
          <p:nvPr/>
        </p:nvSpPr>
        <p:spPr>
          <a:xfrm>
            <a:off x="499500" y="2849492"/>
            <a:ext cx="5143200" cy="13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1516"/>
              <a:buFont typeface="Inter"/>
              <a:buNone/>
            </a:pPr>
            <a:r>
              <a:rPr lang="en-IE" sz="1515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Foundation models fail as data complexity increases. They gain efficiency by ignoring channels O(C·L²) vs O(L·C)²) but lose accuracy on complex tasks</a:t>
            </a:r>
            <a:endParaRPr sz="1515">
              <a:solidFill>
                <a:srgbClr val="283A5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0" name="Google Shape;240;g377974892b3_0_47"/>
          <p:cNvSpPr/>
          <p:nvPr/>
        </p:nvSpPr>
        <p:spPr>
          <a:xfrm>
            <a:off x="6316200" y="1782702"/>
            <a:ext cx="5489700" cy="831600"/>
          </a:xfrm>
          <a:prstGeom prst="roundRect">
            <a:avLst>
              <a:gd fmla="val 5654" name="adj"/>
            </a:avLst>
          </a:prstGeom>
          <a:solidFill>
            <a:srgbClr val="CDEDFE"/>
          </a:solidFill>
          <a:ln cap="flat" cmpd="sng" w="8250">
            <a:solidFill>
              <a:srgbClr val="B3D3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175" lIns="79175" spcFirstLastPara="1" rIns="79175" wrap="square" tIns="79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77974892b3_0_47"/>
          <p:cNvSpPr/>
          <p:nvPr/>
        </p:nvSpPr>
        <p:spPr>
          <a:xfrm>
            <a:off x="6519296" y="1884258"/>
            <a:ext cx="51432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1516"/>
              <a:buFont typeface="Inter"/>
              <a:buNone/>
            </a:pPr>
            <a:r>
              <a:rPr lang="en-IE" sz="1515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Time series specific methods consistently outperform foundation models on complex datasets</a:t>
            </a:r>
            <a:endParaRPr sz="1515">
              <a:solidFill>
                <a:srgbClr val="283A5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2" name="Google Shape;242;g377974892b3_0_47"/>
          <p:cNvSpPr/>
          <p:nvPr/>
        </p:nvSpPr>
        <p:spPr>
          <a:xfrm>
            <a:off x="6316200" y="2773300"/>
            <a:ext cx="5489700" cy="1478700"/>
          </a:xfrm>
          <a:prstGeom prst="roundRect">
            <a:avLst>
              <a:gd fmla="val 5654" name="adj"/>
            </a:avLst>
          </a:prstGeom>
          <a:solidFill>
            <a:srgbClr val="CDEDFE"/>
          </a:solidFill>
          <a:ln cap="flat" cmpd="sng" w="8250">
            <a:solidFill>
              <a:srgbClr val="B3D3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175" lIns="79175" spcFirstLastPara="1" rIns="79175" wrap="square" tIns="79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77974892b3_0_47"/>
          <p:cNvSpPr/>
          <p:nvPr/>
        </p:nvSpPr>
        <p:spPr>
          <a:xfrm>
            <a:off x="6519296" y="2874858"/>
            <a:ext cx="51432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1516"/>
              <a:buFont typeface="Inter"/>
              <a:buNone/>
            </a:pPr>
            <a:r>
              <a:rPr lang="en-IE" sz="1515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"Bigger" doesn't mean "better" for time series. Domain-specific approaches still lead when data relationships matter</a:t>
            </a:r>
            <a:endParaRPr sz="1515">
              <a:solidFill>
                <a:srgbClr val="283A5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4" name="Google Shape;244;g377974892b3_0_47"/>
          <p:cNvSpPr/>
          <p:nvPr/>
        </p:nvSpPr>
        <p:spPr>
          <a:xfrm>
            <a:off x="326250" y="4737050"/>
            <a:ext cx="11479800" cy="831600"/>
          </a:xfrm>
          <a:prstGeom prst="roundRect">
            <a:avLst>
              <a:gd fmla="val 5654" name="adj"/>
            </a:avLst>
          </a:prstGeom>
          <a:solidFill>
            <a:srgbClr val="CDEDFE"/>
          </a:solidFill>
          <a:ln cap="flat" cmpd="sng" w="8250">
            <a:solidFill>
              <a:srgbClr val="B3D3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175" lIns="79175" spcFirstLastPara="1" rIns="79175" wrap="square" tIns="79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77974892b3_0_47"/>
          <p:cNvSpPr/>
          <p:nvPr/>
        </p:nvSpPr>
        <p:spPr>
          <a:xfrm>
            <a:off x="561950" y="4762400"/>
            <a:ext cx="10944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1516"/>
              <a:buFont typeface="Inter"/>
              <a:buNone/>
            </a:pPr>
            <a:r>
              <a:rPr b="1" lang="en-IE" sz="1515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Future foundation models need channel-aware architectures and cross-channel attention mechanisms to compete with specialized methods</a:t>
            </a:r>
            <a:endParaRPr b="1" sz="1515">
              <a:solidFill>
                <a:srgbClr val="283A5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6" name="Google Shape;246;g377974892b3_0_47"/>
          <p:cNvSpPr txBox="1"/>
          <p:nvPr>
            <p:ph idx="12" type="sldNum"/>
          </p:nvPr>
        </p:nvSpPr>
        <p:spPr>
          <a:xfrm>
            <a:off x="11414987" y="6333134"/>
            <a:ext cx="7320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764dc6b57b_0_120"/>
          <p:cNvSpPr/>
          <p:nvPr/>
        </p:nvSpPr>
        <p:spPr>
          <a:xfrm>
            <a:off x="296400" y="533550"/>
            <a:ext cx="4910700" cy="6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3854"/>
              <a:buFont typeface="Inter"/>
              <a:buNone/>
            </a:pPr>
            <a:r>
              <a:rPr b="1" i="0" lang="en-IE" sz="3450" u="none" cap="none" strike="noStrike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Future Directions</a:t>
            </a:r>
            <a:endParaRPr b="0" i="0" sz="3450" u="none" cap="none" strike="noStrike"/>
          </a:p>
        </p:txBody>
      </p:sp>
      <p:sp>
        <p:nvSpPr>
          <p:cNvPr id="253" name="Google Shape;253;g3764dc6b57b_0_120"/>
          <p:cNvSpPr/>
          <p:nvPr/>
        </p:nvSpPr>
        <p:spPr>
          <a:xfrm>
            <a:off x="296400" y="1510630"/>
            <a:ext cx="5549400" cy="1459200"/>
          </a:xfrm>
          <a:prstGeom prst="roundRect">
            <a:avLst>
              <a:gd fmla="val 5654" name="adj"/>
            </a:avLst>
          </a:prstGeom>
          <a:solidFill>
            <a:srgbClr val="CDEDFE"/>
          </a:solidFill>
          <a:ln cap="flat" cmpd="sng" w="8250">
            <a:solidFill>
              <a:srgbClr val="B3D3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175" lIns="79175" spcFirstLastPara="1" rIns="79175" wrap="square" tIns="79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764dc6b57b_0_120"/>
          <p:cNvSpPr/>
          <p:nvPr/>
        </p:nvSpPr>
        <p:spPr>
          <a:xfrm>
            <a:off x="499421" y="1713652"/>
            <a:ext cx="33534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1905"/>
              <a:buFont typeface="Inter"/>
              <a:buNone/>
            </a:pPr>
            <a:r>
              <a:rPr b="1" lang="en-IE" sz="1905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Data Representation</a:t>
            </a:r>
            <a:endParaRPr b="0" i="0" sz="1905" u="none" cap="none" strike="noStrike"/>
          </a:p>
        </p:txBody>
      </p:sp>
      <p:sp>
        <p:nvSpPr>
          <p:cNvPr id="255" name="Google Shape;255;g3764dc6b57b_0_120"/>
          <p:cNvSpPr/>
          <p:nvPr/>
        </p:nvSpPr>
        <p:spPr>
          <a:xfrm>
            <a:off x="499421" y="2138358"/>
            <a:ext cx="51432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1516"/>
              <a:buFont typeface="Inter"/>
              <a:buNone/>
            </a:pPr>
            <a:r>
              <a:rPr b="0" i="0" lang="en-IE" sz="1515" u="none" cap="none" strike="noStrike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D</a:t>
            </a:r>
            <a:r>
              <a:rPr lang="en-IE" sz="1515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evelop an efficient and effective mapping from multivariate to univariate</a:t>
            </a:r>
            <a:endParaRPr b="0" i="0" sz="1515" u="none" cap="none" strike="noStrike"/>
          </a:p>
        </p:txBody>
      </p:sp>
      <p:sp>
        <p:nvSpPr>
          <p:cNvPr id="256" name="Google Shape;256;g3764dc6b57b_0_120"/>
          <p:cNvSpPr/>
          <p:nvPr/>
        </p:nvSpPr>
        <p:spPr>
          <a:xfrm>
            <a:off x="6042150" y="1486080"/>
            <a:ext cx="5549400" cy="1459200"/>
          </a:xfrm>
          <a:prstGeom prst="roundRect">
            <a:avLst>
              <a:gd fmla="val 5654" name="adj"/>
            </a:avLst>
          </a:prstGeom>
          <a:solidFill>
            <a:srgbClr val="CDEDFE"/>
          </a:solidFill>
          <a:ln cap="flat" cmpd="sng" w="8250">
            <a:solidFill>
              <a:srgbClr val="B3D3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175" lIns="79175" spcFirstLastPara="1" rIns="79175" wrap="square" tIns="79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764dc6b57b_0_120"/>
          <p:cNvSpPr/>
          <p:nvPr/>
        </p:nvSpPr>
        <p:spPr>
          <a:xfrm>
            <a:off x="6245171" y="1689102"/>
            <a:ext cx="25083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1905"/>
              <a:buFont typeface="Inter"/>
              <a:buNone/>
            </a:pPr>
            <a:r>
              <a:rPr b="1" i="0" lang="en-IE" sz="1905" u="none" cap="none" strike="noStrike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Hybrid Architectures</a:t>
            </a:r>
            <a:endParaRPr b="0" i="0" sz="1905" u="none" cap="none" strike="noStrike"/>
          </a:p>
        </p:txBody>
      </p:sp>
      <p:sp>
        <p:nvSpPr>
          <p:cNvPr id="258" name="Google Shape;258;g3764dc6b57b_0_120"/>
          <p:cNvSpPr/>
          <p:nvPr/>
        </p:nvSpPr>
        <p:spPr>
          <a:xfrm>
            <a:off x="6245171" y="2113809"/>
            <a:ext cx="51432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1516"/>
              <a:buFont typeface="Inter"/>
              <a:buNone/>
            </a:pPr>
            <a:r>
              <a:rPr b="0" i="0" lang="en-IE" sz="1515" u="none" cap="none" strike="noStrike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Combine foundation models with channel-aware components</a:t>
            </a:r>
            <a:endParaRPr b="0" i="0" sz="1515" u="none" cap="none" strike="noStrike"/>
          </a:p>
        </p:txBody>
      </p:sp>
      <p:sp>
        <p:nvSpPr>
          <p:cNvPr id="259" name="Google Shape;259;g3764dc6b57b_0_120"/>
          <p:cNvSpPr/>
          <p:nvPr/>
        </p:nvSpPr>
        <p:spPr>
          <a:xfrm>
            <a:off x="3146539" y="3166355"/>
            <a:ext cx="5549400" cy="1459200"/>
          </a:xfrm>
          <a:prstGeom prst="roundRect">
            <a:avLst>
              <a:gd fmla="val 5654" name="adj"/>
            </a:avLst>
          </a:prstGeom>
          <a:solidFill>
            <a:srgbClr val="CDEDFE"/>
          </a:solidFill>
          <a:ln cap="flat" cmpd="sng" w="8250">
            <a:solidFill>
              <a:srgbClr val="B3D3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175" lIns="79175" spcFirstLastPara="1" rIns="79175" wrap="square" tIns="79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764dc6b57b_0_120"/>
          <p:cNvSpPr/>
          <p:nvPr/>
        </p:nvSpPr>
        <p:spPr>
          <a:xfrm>
            <a:off x="3349544" y="3369375"/>
            <a:ext cx="38040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1905"/>
              <a:buFont typeface="Inter"/>
              <a:buNone/>
            </a:pPr>
            <a:r>
              <a:rPr b="1" lang="en-IE" sz="1905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Channel-Aware Pre-training</a:t>
            </a:r>
            <a:endParaRPr b="0" i="0" sz="1905" u="none" cap="none" strike="noStrike"/>
          </a:p>
        </p:txBody>
      </p:sp>
      <p:sp>
        <p:nvSpPr>
          <p:cNvPr id="261" name="Google Shape;261;g3764dc6b57b_0_120"/>
          <p:cNvSpPr/>
          <p:nvPr/>
        </p:nvSpPr>
        <p:spPr>
          <a:xfrm>
            <a:off x="3349560" y="3794084"/>
            <a:ext cx="51432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1516"/>
              <a:buFont typeface="Inter"/>
              <a:buNone/>
            </a:pPr>
            <a:r>
              <a:rPr lang="en-IE" sz="1515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Develop objectives that explicitly model inter-channel relationships</a:t>
            </a:r>
            <a:endParaRPr b="0" i="0" sz="1515" u="none" cap="none" strike="noStrike">
              <a:solidFill>
                <a:schemeClr val="accent2"/>
              </a:solidFill>
            </a:endParaRPr>
          </a:p>
        </p:txBody>
      </p:sp>
      <p:sp>
        <p:nvSpPr>
          <p:cNvPr id="262" name="Google Shape;262;g3764dc6b57b_0_120"/>
          <p:cNvSpPr/>
          <p:nvPr/>
        </p:nvSpPr>
        <p:spPr>
          <a:xfrm>
            <a:off x="296400" y="4846621"/>
            <a:ext cx="112953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1516"/>
              <a:buFont typeface="Inter"/>
              <a:buNone/>
            </a:pPr>
            <a:r>
              <a:rPr b="0" i="0" lang="en-IE" sz="1515" u="none" cap="none" strike="noStrike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Critical need for channel-aware architectures and more effective strategies for modeling inter-channel relationships in foundation models</a:t>
            </a:r>
            <a:endParaRPr b="0" i="0" sz="1515" u="none" cap="none" strike="noStrike"/>
          </a:p>
        </p:txBody>
      </p:sp>
      <p:sp>
        <p:nvSpPr>
          <p:cNvPr id="263" name="Google Shape;263;g3764dc6b57b_0_120"/>
          <p:cNvSpPr txBox="1"/>
          <p:nvPr>
            <p:ph idx="12" type="sldNum"/>
          </p:nvPr>
        </p:nvSpPr>
        <p:spPr>
          <a:xfrm>
            <a:off x="11414987" y="6333134"/>
            <a:ext cx="7320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77974892b3_0_90"/>
          <p:cNvSpPr/>
          <p:nvPr/>
        </p:nvSpPr>
        <p:spPr>
          <a:xfrm>
            <a:off x="702250" y="395275"/>
            <a:ext cx="4910700" cy="6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83A5E"/>
              </a:buClr>
              <a:buSzPts val="3854"/>
              <a:buFont typeface="Inter"/>
              <a:buNone/>
            </a:pPr>
            <a:r>
              <a:rPr b="1" lang="en-IE" sz="3450">
                <a:solidFill>
                  <a:srgbClr val="283A5E"/>
                </a:solidFill>
                <a:latin typeface="Inter"/>
                <a:ea typeface="Inter"/>
                <a:cs typeface="Inter"/>
                <a:sym typeface="Inter"/>
              </a:rPr>
              <a:t>Thank you!</a:t>
            </a:r>
            <a:endParaRPr b="0" i="0" sz="3450" u="none" cap="none" strike="noStrike"/>
          </a:p>
        </p:txBody>
      </p:sp>
      <p:sp>
        <p:nvSpPr>
          <p:cNvPr id="270" name="Google Shape;270;g377974892b3_0_90"/>
          <p:cNvSpPr txBox="1"/>
          <p:nvPr/>
        </p:nvSpPr>
        <p:spPr>
          <a:xfrm>
            <a:off x="3595700" y="1004875"/>
            <a:ext cx="4804500" cy="7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 sz="3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Open code and data</a:t>
            </a:r>
            <a:endParaRPr sz="3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1" name="Google Shape;271;g377974892b3_0_90"/>
          <p:cNvSpPr txBox="1"/>
          <p:nvPr>
            <p:ph idx="12" type="sldNum"/>
          </p:nvPr>
        </p:nvSpPr>
        <p:spPr>
          <a:xfrm>
            <a:off x="11414987" y="6333134"/>
            <a:ext cx="7320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  <p:sp>
        <p:nvSpPr>
          <p:cNvPr id="272" name="Google Shape;272;g377974892b3_0_90"/>
          <p:cNvSpPr txBox="1"/>
          <p:nvPr/>
        </p:nvSpPr>
        <p:spPr>
          <a:xfrm>
            <a:off x="2464225" y="5195800"/>
            <a:ext cx="79041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 sz="32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3"/>
              </a:rPr>
              <a:t>https://github.com/mlgig/FM4MTSC</a:t>
            </a:r>
            <a:r>
              <a:rPr lang="en-IE" sz="3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3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73" name="Google Shape;273;g377974892b3_0_90" title="repo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88425" y="1671576"/>
            <a:ext cx="3493350" cy="349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